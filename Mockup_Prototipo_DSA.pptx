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content is based on user-provided Reporte_Proyecto_DSA.docx, exploracion_datos.pdf and dsa_proy_s2.pdf.
- Layout and visual design created for this editable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content is based on user-provided Reporte_Proyecto_DSA.docx, exploracion_datos.pdf and dsa_proy_s2.pdf.
- Layout and visual design created for this editable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content is based on user-provided Reporte_Proyecto_DSA.docx, exploracion_datos.pdf and dsa_proy_s2.pdf.
- Layout and visual design created for this editable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content is based on user-provided Reporte_Proyecto_DSA.docx, exploracion_datos.pdf and dsa_proy_s2.pdf.
- Layout and visual design created for this editable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content is based on user-provided Reporte_Proyecto_DSA.docx, exploracion_datos.pdf and dsa_proy_s2.pdf.
- Layout and visual design created for this editable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73B61"/>
          </a:solidFill>
          <a:ln w="12700">
            <a:solidFill>
              <a:srgbClr val="173B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56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12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" y="1088136"/>
            <a:ext cx="1325880" cy="411480"/>
          </a:xfrm>
          <a:prstGeom prst="roundRect">
            <a:avLst/>
          </a:prstGeom>
          <a:solidFill>
            <a:srgbClr val="2A6091"/>
          </a:solidFill>
          <a:ln w="12700">
            <a:solidFill>
              <a:srgbClr val="2A60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43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6916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municipio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22402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3337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301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inmobiliario urbano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general para apoyar la priorizacion de municipios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1783080" y="1143000"/>
            <a:ext cx="100584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36245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Filtros: municipio  |  periodo 2015-2023  |  predio urbano  |  compraventa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52760" y="1325880"/>
            <a:ext cx="914400" cy="292608"/>
          </a:xfrm>
          <a:prstGeom prst="roundRect">
            <a:avLst/>
          </a:prstGeom>
          <a:solidFill>
            <a:srgbClr val="2E86D1"/>
          </a:solidFill>
          <a:ln w="12700">
            <a:solidFill>
              <a:srgbClr val="2E86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52760" y="1325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2029968"/>
            <a:ext cx="2286000" cy="713232"/>
          </a:xfrm>
          <a:prstGeom prst="roundRect">
            <a:avLst/>
          </a:prstGeom>
          <a:solidFill>
            <a:srgbClr val="E5F1FB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Compraventas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385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214.036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2029968"/>
            <a:ext cx="2286000" cy="713232"/>
          </a:xfrm>
          <a:prstGeom prst="roundRect">
            <a:avLst/>
          </a:prstGeom>
          <a:solidFill>
            <a:srgbClr val="E4F4E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mediano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531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A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12280" y="2029968"/>
            <a:ext cx="2286000" cy="713232"/>
          </a:xfrm>
          <a:prstGeom prst="roundRect">
            <a:avLst/>
          </a:prstGeom>
          <a:solidFill>
            <a:srgbClr val="FCEBD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677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0" y="2029968"/>
            <a:ext cx="2286000" cy="713232"/>
          </a:xfrm>
          <a:prstGeom prst="roundRect">
            <a:avLst/>
          </a:prstGeom>
          <a:solidFill>
            <a:srgbClr val="ECEAFA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2157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823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F6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Estimacion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783080" y="2971800"/>
            <a:ext cx="4892040" cy="1874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47672" y="3099816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Evolucion de compraventas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221992" y="4590288"/>
            <a:ext cx="4206240" cy="1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3538728"/>
            <a:ext cx="1" cy="1051560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2221992" y="4169664"/>
            <a:ext cx="841248" cy="157734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63240" y="4169664"/>
            <a:ext cx="841248" cy="105156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904488" y="3980383"/>
            <a:ext cx="841248" cy="294437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745736" y="3822649"/>
            <a:ext cx="841248" cy="157734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86984" y="3822649"/>
            <a:ext cx="841248" cy="73609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221992" y="4379976"/>
            <a:ext cx="841248" cy="10515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063240" y="4190695"/>
            <a:ext cx="841248" cy="189281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04488" y="4190695"/>
            <a:ext cx="841248" cy="63094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745736" y="4053993"/>
            <a:ext cx="841248" cy="19979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586984" y="3959352"/>
            <a:ext cx="841248" cy="94640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2971800"/>
            <a:ext cx="4937760" cy="1874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3099816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Evolucion del valor mediano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42632" y="4590288"/>
            <a:ext cx="4251960" cy="1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42632" y="3538728"/>
            <a:ext cx="1" cy="1051560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342632" y="4169664"/>
            <a:ext cx="850392" cy="157734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93024" y="4169664"/>
            <a:ext cx="850392" cy="10515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043416" y="3980383"/>
            <a:ext cx="850392" cy="294437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893808" y="3822649"/>
            <a:ext cx="850392" cy="157734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44200" y="3822649"/>
            <a:ext cx="850392" cy="73609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7342632" y="4379976"/>
            <a:ext cx="850392" cy="105156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193024" y="4190695"/>
            <a:ext cx="850392" cy="189281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43416" y="4190695"/>
            <a:ext cx="850392" cy="63094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9893808" y="4053993"/>
            <a:ext cx="850392" cy="199796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744200" y="3959352"/>
            <a:ext cx="850392" cy="94640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83080" y="5120640"/>
            <a:ext cx="48920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65960" y="5285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 entre municipios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1965960" y="5669280"/>
            <a:ext cx="1234440" cy="292608"/>
          </a:xfrm>
          <a:prstGeom prst="roundRect">
            <a:avLst/>
          </a:prstGeom>
          <a:solidFill>
            <a:srgbClr val="E5F1FB"/>
          </a:solidFill>
          <a:ln w="12700">
            <a:solidFill>
              <a:srgbClr val="E5F1F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65960" y="5669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Armenia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83280" y="5669280"/>
            <a:ext cx="1234440" cy="292608"/>
          </a:xfrm>
          <a:prstGeom prst="roundRect">
            <a:avLst/>
          </a:prstGeom>
          <a:solidFill>
            <a:srgbClr val="E4F4ED"/>
          </a:solidFill>
          <a:ln w="12700">
            <a:solidFill>
              <a:srgbClr val="E4F4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5669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A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Manizales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00600" y="5669280"/>
            <a:ext cx="1234440" cy="292608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5669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8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Pereira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03720" y="5120640"/>
            <a:ext cx="49377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5285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predictivo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7086600" y="56509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previsto para estimar valores a partir del modelo.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515600" y="5596128"/>
            <a:ext cx="914400" cy="292608"/>
          </a:xfrm>
          <a:prstGeom prst="roundRect">
            <a:avLst/>
          </a:prstGeom>
          <a:solidFill>
            <a:srgbClr val="6F63C7"/>
          </a:solidFill>
          <a:ln w="12700">
            <a:solidFill>
              <a:srgbClr val="6F63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15600" y="5596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73B61"/>
          </a:solidFill>
          <a:ln w="12700">
            <a:solidFill>
              <a:srgbClr val="173B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56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12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" y="1636776"/>
            <a:ext cx="1325880" cy="411480"/>
          </a:xfrm>
          <a:prstGeom prst="roundRect">
            <a:avLst/>
          </a:prstGeom>
          <a:solidFill>
            <a:srgbClr val="2A6091"/>
          </a:solidFill>
          <a:ln w="12700">
            <a:solidFill>
              <a:srgbClr val="2A60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916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municipio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22402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3337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301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por municipio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 de actividad y valores para el municipio seleccionado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1783080" y="1143000"/>
            <a:ext cx="10058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3533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Municipio seleccionado: Armenia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07040" y="1316736"/>
            <a:ext cx="914400" cy="292608"/>
          </a:xfrm>
          <a:prstGeom prst="roundRect">
            <a:avLst/>
          </a:prstGeom>
          <a:solidFill>
            <a:srgbClr val="E5F1FB"/>
          </a:solidFill>
          <a:ln w="12700">
            <a:solidFill>
              <a:srgbClr val="E5F1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0" y="1316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ARMENIA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2029968"/>
            <a:ext cx="3063240" cy="731520"/>
          </a:xfrm>
          <a:prstGeom prst="roundRect">
            <a:avLst/>
          </a:prstGeom>
          <a:solidFill>
            <a:srgbClr val="E5F1FB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377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86.560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48072" y="2029968"/>
            <a:ext cx="3063240" cy="731520"/>
          </a:xfrm>
          <a:prstGeom prst="roundRect">
            <a:avLst/>
          </a:prstGeom>
          <a:solidFill>
            <a:srgbClr val="E4F4E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0952" y="2377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A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2015-2023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13064" y="2029968"/>
            <a:ext cx="3063240" cy="731520"/>
          </a:xfrm>
          <a:prstGeom prst="roundRect">
            <a:avLst/>
          </a:prstGeom>
          <a:solidFill>
            <a:srgbClr val="FCEBD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95944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mediano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95944" y="2377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83080" y="3063240"/>
            <a:ext cx="489204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3191256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Compraventas por ano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221992" y="4864608"/>
            <a:ext cx="4206240" cy="1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1992" y="3630168"/>
            <a:ext cx="1" cy="1234440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221992" y="4370832"/>
            <a:ext cx="841248" cy="185166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4370832"/>
            <a:ext cx="841248" cy="123444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904488" y="4148633"/>
            <a:ext cx="841248" cy="345643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4745736" y="3963467"/>
            <a:ext cx="841248" cy="185166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86984" y="3963467"/>
            <a:ext cx="841248" cy="86411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221992" y="4617720"/>
            <a:ext cx="841248" cy="123444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063240" y="4395521"/>
            <a:ext cx="841248" cy="222199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04488" y="4395521"/>
            <a:ext cx="841248" cy="7406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745736" y="4235043"/>
            <a:ext cx="841248" cy="234544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5586984" y="4123944"/>
            <a:ext cx="841248" cy="111100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3063240"/>
            <a:ext cx="49377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3191256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mediano por ano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342632" y="4864608"/>
            <a:ext cx="4251960" cy="1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42632" y="3630168"/>
            <a:ext cx="1" cy="1234440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7342632" y="4370832"/>
            <a:ext cx="850392" cy="18516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93024" y="4370832"/>
            <a:ext cx="850392" cy="123444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043416" y="4148633"/>
            <a:ext cx="850392" cy="345643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893808" y="3963467"/>
            <a:ext cx="850392" cy="18516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44200" y="3963467"/>
            <a:ext cx="850392" cy="86411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7342632" y="4617720"/>
            <a:ext cx="850392" cy="123444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8193024" y="4395521"/>
            <a:ext cx="850392" cy="222199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3416" y="4395521"/>
            <a:ext cx="850392" cy="74066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9893808" y="4235043"/>
            <a:ext cx="850392" cy="234544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0744200" y="4123944"/>
            <a:ext cx="850392" cy="111100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83080" y="5394960"/>
            <a:ext cx="100584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93392" y="5559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del municipio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993392" y="585216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 para resumir los principales patrones observados y facilitar la comparacion posterior.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73B61"/>
          </a:solidFill>
          <a:ln w="12700">
            <a:solidFill>
              <a:srgbClr val="173B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56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12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" y="16916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municipio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" y="2185416"/>
            <a:ext cx="1325880" cy="411480"/>
          </a:xfrm>
          <a:prstGeom prst="roundRect">
            <a:avLst/>
          </a:prstGeom>
          <a:solidFill>
            <a:srgbClr val="2A6091"/>
          </a:solidFill>
          <a:ln w="12700">
            <a:solidFill>
              <a:srgbClr val="2A60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402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3337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301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 de municipios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 directo entre Armenia, Manizales y Pereira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1783080" y="1207008"/>
            <a:ext cx="3063240" cy="914400"/>
          </a:xfrm>
          <a:prstGeom prst="roundRect">
            <a:avLst/>
          </a:prstGeom>
          <a:solidFill>
            <a:srgbClr val="E5F1FB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371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Armenia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16642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86.560 registros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48072" y="1207008"/>
            <a:ext cx="3063240" cy="914400"/>
          </a:xfrm>
          <a:prstGeom prst="roundRect">
            <a:avLst/>
          </a:prstGeom>
          <a:solidFill>
            <a:srgbClr val="E4F4E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371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A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Manizales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0952" y="16642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A5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66.295 registros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13064" y="1207008"/>
            <a:ext cx="3063240" cy="914400"/>
          </a:xfrm>
          <a:prstGeom prst="roundRect">
            <a:avLst/>
          </a:prstGeom>
          <a:solidFill>
            <a:srgbClr val="FCEBD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95944" y="1371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Pereira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95944" y="166420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8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61.181 registros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83080" y="2423160"/>
            <a:ext cx="48920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2551176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transaccional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221992" y="4315968"/>
            <a:ext cx="4206240" cy="1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1992" y="2990088"/>
            <a:ext cx="1" cy="1325880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221992" y="3785616"/>
            <a:ext cx="841248" cy="198882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3240" y="3785616"/>
            <a:ext cx="841248" cy="132588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904488" y="3546958"/>
            <a:ext cx="841248" cy="371246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745736" y="3348076"/>
            <a:ext cx="841248" cy="198882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86984" y="3348076"/>
            <a:ext cx="841248" cy="92812"/>
          </a:xfrm>
          <a:prstGeom prst="line">
            <a:avLst/>
          </a:prstGeom>
          <a:noFill/>
          <a:ln w="25400">
            <a:solidFill>
              <a:srgbClr val="2E86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221992" y="4050792"/>
            <a:ext cx="841248" cy="132588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063240" y="3812134"/>
            <a:ext cx="841248" cy="238658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04488" y="3812134"/>
            <a:ext cx="841248" cy="79553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745736" y="3639769"/>
            <a:ext cx="841248" cy="251917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586984" y="3520440"/>
            <a:ext cx="841248" cy="119329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2423160"/>
            <a:ext cx="493776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68312" y="2551176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registrados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42632" y="4315968"/>
            <a:ext cx="4251960" cy="1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42632" y="2990088"/>
            <a:ext cx="1" cy="1325880"/>
          </a:xfrm>
          <a:prstGeom prst="line">
            <a:avLst/>
          </a:prstGeom>
          <a:noFill/>
          <a:ln w="12700">
            <a:solidFill>
              <a:srgbClr val="BBC8D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342632" y="3785616"/>
            <a:ext cx="850392" cy="198882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3785616"/>
            <a:ext cx="850392" cy="132588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043416" y="3546958"/>
            <a:ext cx="850392" cy="371246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893808" y="3348076"/>
            <a:ext cx="850392" cy="198882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44200" y="3348076"/>
            <a:ext cx="850392" cy="92812"/>
          </a:xfrm>
          <a:prstGeom prst="line">
            <a:avLst/>
          </a:prstGeom>
          <a:noFill/>
          <a:ln w="25400">
            <a:solidFill>
              <a:srgbClr val="38A5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7342632" y="4050792"/>
            <a:ext cx="850392" cy="132588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193024" y="3812134"/>
            <a:ext cx="850392" cy="238658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43416" y="3812134"/>
            <a:ext cx="850392" cy="79553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893808" y="3639769"/>
            <a:ext cx="850392" cy="251917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744200" y="3520440"/>
            <a:ext cx="850392" cy="119329"/>
          </a:xfrm>
          <a:prstGeom prst="line">
            <a:avLst/>
          </a:prstGeom>
          <a:noFill/>
          <a:ln w="25400">
            <a:solidFill>
              <a:srgbClr val="F28C3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83080" y="4892040"/>
            <a:ext cx="1005840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93392" y="5074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comparativo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011680" y="5468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11680" y="5705856"/>
            <a:ext cx="2560320" cy="292608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48840" y="5742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 visual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66360" y="5468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mediano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166360" y="5705856"/>
            <a:ext cx="2560320" cy="292608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5742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 visual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21040" y="54681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21040" y="5705856"/>
            <a:ext cx="2560320" cy="292608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58200" y="5742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 visual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73B61"/>
          </a:solidFill>
          <a:ln w="12700">
            <a:solidFill>
              <a:srgbClr val="173B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56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12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" y="16916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municipio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22402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" y="2734056"/>
            <a:ext cx="1325880" cy="411480"/>
          </a:xfrm>
          <a:prstGeom prst="roundRect">
            <a:avLst/>
          </a:prstGeom>
          <a:solidFill>
            <a:srgbClr val="2A6091"/>
          </a:solidFill>
          <a:ln w="12700">
            <a:solidFill>
              <a:srgbClr val="2A60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3337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301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 de valores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futura del componente predictivo orientado a la estimacion de valores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1783080" y="1188720"/>
            <a:ext cx="457200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 entrada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1938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Municipio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011680" y="2194560"/>
            <a:ext cx="3977640" cy="36576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258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municipio...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8986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del inmueble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2011680" y="3154680"/>
            <a:ext cx="3977640" cy="36576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por definir con el modelo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8587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Caracteristicas adicionales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2011680" y="4114800"/>
            <a:ext cx="3977640" cy="365760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41788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por definir con el modelo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5349240"/>
            <a:ext cx="1828800" cy="292608"/>
          </a:xfrm>
          <a:prstGeom prst="roundRect">
            <a:avLst/>
          </a:prstGeom>
          <a:solidFill>
            <a:srgbClr val="6F63C7"/>
          </a:solidFill>
          <a:ln w="12700">
            <a:solidFill>
              <a:srgbClr val="6F6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5349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 VALOR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56832" y="1188720"/>
            <a:ext cx="5184648" cy="2194560"/>
          </a:xfrm>
          <a:prstGeom prst="roundRect">
            <a:avLst/>
          </a:prstGeom>
          <a:solidFill>
            <a:srgbClr val="ECEAFA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F6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estimado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31152" y="1993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estimado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1152" y="2304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6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del modelo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31152" y="2834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pantalla es una maqueta: las variables finales se definiran al desarrollar el modelo.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56832" y="3703320"/>
            <a:ext cx="5184648" cy="2697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3977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para la decision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31152" y="44348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estimacion se mostraria junto con el contexto descriptivo del municipio para apoyar estudios posteriores, sin presentarse como garantia de rentabilidad.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6858000"/>
          </a:xfrm>
          <a:prstGeom prst="rect">
            <a:avLst/>
          </a:prstGeom>
          <a:solidFill>
            <a:srgbClr val="173B61"/>
          </a:solidFill>
          <a:ln w="12700">
            <a:solidFill>
              <a:srgbClr val="173B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560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12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4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" y="16916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municipio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22402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27889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9728" y="3282696"/>
            <a:ext cx="1325880" cy="411480"/>
          </a:xfrm>
          <a:prstGeom prst="roundRect">
            <a:avLst/>
          </a:prstGeom>
          <a:solidFill>
            <a:srgbClr val="2A6091"/>
          </a:solidFill>
          <a:ln w="12700">
            <a:solidFill>
              <a:srgbClr val="2A60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33375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301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Acerca del proyecto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Contexto, alcance y fuente de informacion del prototipo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1783080" y="1188720"/>
            <a:ext cx="6400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del prototipo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9968" y="190195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Apoyar la priorizacion de municipios para profundizar estudios de inversion inmobiliaria urbana mediante la comparacion de actividad transaccional historica y valores registrados.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58200" y="1188720"/>
            <a:ext cx="3383280" cy="1920240"/>
          </a:xfrm>
          <a:prstGeom prst="roundRect">
            <a:avLst/>
          </a:prstGeom>
          <a:solidFill>
            <a:srgbClr val="E5F1FB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1463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Armenia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Manizales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Pereira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2015-2023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83080" y="3401568"/>
            <a:ext cx="484632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3675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principal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29968" y="413308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Transacciones Inmobiliarias en Colombia IGAC 2015-2023, consultado mediante la API de Datos Abiertos Colombia.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3401568"/>
            <a:ext cx="493776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3675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iniciales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0608" y="41148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Compraventa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Predio urbano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registrado mayor que cero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0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indicador de multiples valores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579</Words>
  <Application>Microsoft Office PowerPoint</Application>
  <PresentationFormat>Panorámica</PresentationFormat>
  <Paragraphs>129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M365 Copilot</dc:creator>
  <cp:lastModifiedBy>Guillermo Prieto Peralta</cp:lastModifiedBy>
  <cp:revision>1</cp:revision>
  <dcterms:created xsi:type="dcterms:W3CDTF">2026-10-21T23:19:29Z</dcterms:created>
  <dcterms:modified xsi:type="dcterms:W3CDTF">2026-10-21T23:22:11Z</dcterms:modified>
</cp:coreProperties>
</file>