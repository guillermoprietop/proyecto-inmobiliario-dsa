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Armenia</c:v>
          </c:tx>
          <c:spPr>
            <a:ln w="22860">
              <a:solidFill>
                <a:srgbClr val="2E86D1"/>
              </a:solidFill>
              <a:prstDash val="solid"/>
            </a:ln>
          </c:spPr>
          <c:marker>
            <c:symbol val="none"/>
          </c:marker>
          <c:cat>
            <c:numRef>
              <c:f>'Chart Data'!$A$2:$A$10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9072</c:v>
                </c:pt>
                <c:pt idx="1">
                  <c:v>10487</c:v>
                </c:pt>
                <c:pt idx="2">
                  <c:v>9478</c:v>
                </c:pt>
                <c:pt idx="3">
                  <c:v>9697</c:v>
                </c:pt>
                <c:pt idx="4">
                  <c:v>8612</c:v>
                </c:pt>
                <c:pt idx="5">
                  <c:v>8521</c:v>
                </c:pt>
                <c:pt idx="6">
                  <c:v>10942</c:v>
                </c:pt>
                <c:pt idx="7">
                  <c:v>10079</c:v>
                </c:pt>
                <c:pt idx="8">
                  <c:v>9672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88-4DC2-A072-67056F16FFE3}"/>
            </c:ext>
          </c:extLst>
        </c:ser>
        <c:ser>
          <c:idx val="1"/>
          <c:order val="1"/>
          <c:tx>
            <c:v>Manizales</c:v>
          </c:tx>
          <c:spPr>
            <a:ln w="22860">
              <a:solidFill>
                <a:srgbClr val="2BB07F"/>
              </a:solidFill>
              <a:prstDash val="solid"/>
            </a:ln>
          </c:spPr>
          <c:marker>
            <c:symbol val="none"/>
          </c:marker>
          <c:cat>
            <c:numRef>
              <c:f>'Chart Data'!$C$2:$C$10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Data'!$D$2:$D$10</c:f>
              <c:numCache>
                <c:formatCode>#,##0</c:formatCode>
                <c:ptCount val="9"/>
                <c:pt idx="0">
                  <c:v>7712</c:v>
                </c:pt>
                <c:pt idx="1">
                  <c:v>7187</c:v>
                </c:pt>
                <c:pt idx="2">
                  <c:v>6761</c:v>
                </c:pt>
                <c:pt idx="3">
                  <c:v>7363</c:v>
                </c:pt>
                <c:pt idx="4">
                  <c:v>7709</c:v>
                </c:pt>
                <c:pt idx="5">
                  <c:v>6210</c:v>
                </c:pt>
                <c:pt idx="6">
                  <c:v>8410</c:v>
                </c:pt>
                <c:pt idx="7">
                  <c:v>8581</c:v>
                </c:pt>
                <c:pt idx="8">
                  <c:v>6362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88-4DC2-A072-67056F16FFE3}"/>
            </c:ext>
          </c:extLst>
        </c:ser>
        <c:ser>
          <c:idx val="2"/>
          <c:order val="2"/>
          <c:tx>
            <c:v>Pereira</c:v>
          </c:tx>
          <c:spPr>
            <a:ln w="22860">
              <a:solidFill>
                <a:srgbClr val="FF8A28"/>
              </a:solidFill>
              <a:prstDash val="solid"/>
            </a:ln>
          </c:spPr>
          <c:marker>
            <c:symbol val="none"/>
          </c:marker>
          <c:cat>
            <c:numRef>
              <c:f>'Chart Data'!$E$2:$E$10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Data'!$F$2:$F$10</c:f>
              <c:numCache>
                <c:formatCode>#,##0</c:formatCode>
                <c:ptCount val="9"/>
                <c:pt idx="0">
                  <c:v>7031</c:v>
                </c:pt>
                <c:pt idx="1">
                  <c:v>8238</c:v>
                </c:pt>
                <c:pt idx="2">
                  <c:v>7086</c:v>
                </c:pt>
                <c:pt idx="3">
                  <c:v>6170</c:v>
                </c:pt>
                <c:pt idx="4">
                  <c:v>6363</c:v>
                </c:pt>
                <c:pt idx="5">
                  <c:v>5798</c:v>
                </c:pt>
                <c:pt idx="6">
                  <c:v>6897</c:v>
                </c:pt>
                <c:pt idx="7">
                  <c:v>7375</c:v>
                </c:pt>
                <c:pt idx="8">
                  <c:v>6223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F88-4DC2-A072-67056F16FF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EF6"/>
              </a:solidFill>
              <a:prstDash val="solid"/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825">
              <a:solidFill>
                <a:srgbClr val="617D9C"/>
              </a:solidFill>
              <a:latin typeface="Aptos"/>
              <a:ea typeface="Aptos"/>
              <a:cs typeface="Aptos"/>
            </a:defRPr>
          </a:pPr>
          <a:endParaRPr lang="es-CO"/>
        </a:p>
      </c:txPr>
    </c:legend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Armenia</c:v>
          </c:tx>
          <c:spPr>
            <a:ln w="22860">
              <a:solidFill>
                <a:srgbClr val="2E86D1"/>
              </a:solidFill>
              <a:prstDash val="solid"/>
            </a:ln>
          </c:spPr>
          <c:marker>
            <c:symbol val="none"/>
          </c:marker>
          <c:cat>
            <c:numRef>
              <c:f>'Chart Data'!$A$2:$A$10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Data'!$B$2:$B$10</c:f>
              <c:numCache>
                <c:formatCode>0</c:formatCode>
                <c:ptCount val="9"/>
                <c:pt idx="0">
                  <c:v>45.104500000000002</c:v>
                </c:pt>
                <c:pt idx="1">
                  <c:v>48.261848000000001</c:v>
                </c:pt>
                <c:pt idx="2">
                  <c:v>57.5</c:v>
                </c:pt>
                <c:pt idx="3">
                  <c:v>56.085999999999999</c:v>
                </c:pt>
                <c:pt idx="4">
                  <c:v>70</c:v>
                </c:pt>
                <c:pt idx="5">
                  <c:v>80.987399999999994</c:v>
                </c:pt>
                <c:pt idx="6">
                  <c:v>77.5</c:v>
                </c:pt>
                <c:pt idx="7">
                  <c:v>81.2</c:v>
                </c:pt>
                <c:pt idx="8">
                  <c:v>108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F02-4B11-8D6C-64403E38D3A7}"/>
            </c:ext>
          </c:extLst>
        </c:ser>
        <c:ser>
          <c:idx val="1"/>
          <c:order val="1"/>
          <c:tx>
            <c:v>Manizales</c:v>
          </c:tx>
          <c:spPr>
            <a:ln w="22860">
              <a:solidFill>
                <a:srgbClr val="2BB07F"/>
              </a:solidFill>
              <a:prstDash val="solid"/>
            </a:ln>
          </c:spPr>
          <c:marker>
            <c:symbol val="none"/>
          </c:marker>
          <c:cat>
            <c:numRef>
              <c:f>'Chart Data'!$C$2:$C$10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Data'!$D$2:$D$10</c:f>
              <c:numCache>
                <c:formatCode>0</c:formatCode>
                <c:ptCount val="9"/>
                <c:pt idx="0">
                  <c:v>83.1</c:v>
                </c:pt>
                <c:pt idx="1">
                  <c:v>79.599999999999994</c:v>
                </c:pt>
                <c:pt idx="2">
                  <c:v>90</c:v>
                </c:pt>
                <c:pt idx="3">
                  <c:v>102.5</c:v>
                </c:pt>
                <c:pt idx="4">
                  <c:v>123.177128</c:v>
                </c:pt>
                <c:pt idx="5">
                  <c:v>95.875</c:v>
                </c:pt>
                <c:pt idx="6">
                  <c:v>90</c:v>
                </c:pt>
                <c:pt idx="7">
                  <c:v>100</c:v>
                </c:pt>
                <c:pt idx="8">
                  <c:v>135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F02-4B11-8D6C-64403E38D3A7}"/>
            </c:ext>
          </c:extLst>
        </c:ser>
        <c:ser>
          <c:idx val="2"/>
          <c:order val="2"/>
          <c:tx>
            <c:v>Pereira</c:v>
          </c:tx>
          <c:spPr>
            <a:ln w="22860">
              <a:solidFill>
                <a:srgbClr val="FF8A28"/>
              </a:solidFill>
              <a:prstDash val="solid"/>
            </a:ln>
          </c:spPr>
          <c:marker>
            <c:symbol val="none"/>
          </c:marker>
          <c:cat>
            <c:numRef>
              <c:f>'Chart Data'!$E$2:$E$10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Data'!$F$2:$F$10</c:f>
              <c:numCache>
                <c:formatCode>0</c:formatCode>
                <c:ptCount val="9"/>
                <c:pt idx="0">
                  <c:v>79.736000000000004</c:v>
                </c:pt>
                <c:pt idx="1">
                  <c:v>86.45</c:v>
                </c:pt>
                <c:pt idx="2">
                  <c:v>81.875</c:v>
                </c:pt>
                <c:pt idx="3">
                  <c:v>82.325000000000003</c:v>
                </c:pt>
                <c:pt idx="4">
                  <c:v>95</c:v>
                </c:pt>
                <c:pt idx="5">
                  <c:v>95</c:v>
                </c:pt>
                <c:pt idx="6">
                  <c:v>103</c:v>
                </c:pt>
                <c:pt idx="7">
                  <c:v>122.6</c:v>
                </c:pt>
                <c:pt idx="8">
                  <c:v>123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F02-4B11-8D6C-64403E38D3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EF6"/>
              </a:solidFill>
              <a:prstDash val="solid"/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825">
              <a:solidFill>
                <a:srgbClr val="617D9C"/>
              </a:solidFill>
              <a:latin typeface="Aptos"/>
              <a:ea typeface="Aptos"/>
              <a:cs typeface="Aptos"/>
            </a:defRPr>
          </a:pPr>
          <a:endParaRPr lang="es-CO"/>
        </a:p>
      </c:txPr>
    </c:legend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Armenia</c:v>
          </c:tx>
          <c:spPr>
            <a:solidFill>
              <a:srgbClr val="2E86D1"/>
            </a:solidFill>
          </c:spPr>
          <c:invertIfNegative val="0"/>
          <c:cat>
            <c:numRef>
              <c:f>'Chart Data'!$A$2:$A$10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9072</c:v>
                </c:pt>
                <c:pt idx="1">
                  <c:v>10487</c:v>
                </c:pt>
                <c:pt idx="2">
                  <c:v>9478</c:v>
                </c:pt>
                <c:pt idx="3">
                  <c:v>9697</c:v>
                </c:pt>
                <c:pt idx="4">
                  <c:v>8612</c:v>
                </c:pt>
                <c:pt idx="5">
                  <c:v>8521</c:v>
                </c:pt>
                <c:pt idx="6">
                  <c:v>10942</c:v>
                </c:pt>
                <c:pt idx="7">
                  <c:v>10079</c:v>
                </c:pt>
                <c:pt idx="8">
                  <c:v>9672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5A-45E1-9793-637C4C34D7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EF6"/>
              </a:solidFill>
              <a:prstDash val="solid"/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Armenia</c:v>
          </c:tx>
          <c:spPr>
            <a:ln w="23813">
              <a:solidFill>
                <a:srgbClr val="2BB07F"/>
              </a:solidFill>
              <a:prstDash val="solid"/>
            </a:ln>
          </c:spPr>
          <c:marker>
            <c:symbol val="none"/>
          </c:marker>
          <c:cat>
            <c:numRef>
              <c:f>'Chart Data'!$A$2:$A$10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'Chart Data'!$B$2:$B$10</c:f>
              <c:numCache>
                <c:formatCode>0</c:formatCode>
                <c:ptCount val="9"/>
                <c:pt idx="0">
                  <c:v>45.104500000000002</c:v>
                </c:pt>
                <c:pt idx="1">
                  <c:v>48.261848000000001</c:v>
                </c:pt>
                <c:pt idx="2">
                  <c:v>57.5</c:v>
                </c:pt>
                <c:pt idx="3">
                  <c:v>56.085999999999999</c:v>
                </c:pt>
                <c:pt idx="4">
                  <c:v>70</c:v>
                </c:pt>
                <c:pt idx="5">
                  <c:v>80.987399999999994</c:v>
                </c:pt>
                <c:pt idx="6">
                  <c:v>77.5</c:v>
                </c:pt>
                <c:pt idx="7">
                  <c:v>81.2</c:v>
                </c:pt>
                <c:pt idx="8">
                  <c:v>108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8D-4C41-9FD7-83E84A78DA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EF6"/>
              </a:solidFill>
              <a:prstDash val="solid"/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endParaRPr lang="es-CO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 Participación anual: n municipio / 22.257 registros seleccionados en 2023. Variación: (n2023/n2022−1)×100. Cobertura por municipio en 2023: 9672/9672; 6362/6364; 6223/6249. Cuartiles calculados sobre registros monetarios, con interpolación lineal.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Mockup académico editable. No es una aplicación conectada. Fuente: https://www.datos.gov.co/resource/7y2j-43cv.json . Consulta reproducible del 25-10-2026, DIVIPOLA 63001,17001,66001; year_radica 2015–2023; naturaleza jurídica COMPRAVENTA y tipo URBANO; valores positivos y tiene_mas_de_un_valor=0 para subconjunto monetario. Los conteos comparativos usan este subconjunto. Fuente del diseño: PowerPoint suministrado por el equipo. No se atribuye validación a inversionistas reales. Los botones y filtros representan el diseño propuesto.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91F6DB-2747-4845-B86F-1A3D875CA1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A20666-FF9E-4D8D-86C9-ED5546F27250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D2DDD6-AD11-463E-BD70-70CCE450A3FE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panel-1">
            <a:extLst>
              <a:ext uri="{FF2B5EF4-FFF2-40B4-BE49-F238E27FC236}">
                <a16:creationId xmlns:a16="http://schemas.microsoft.com/office/drawing/2014/main" id="{47511DA7-4616-4646-A621-8DC3E25C0CCF}"/>
              </a:ext>
            </a:extLst>
          </p:cNvPr>
          <p:cNvSpPr>
            <a:spLocks noGrp="1"/>
          </p:cNvSpPr>
          <p:nvPr/>
        </p:nvSpPr>
        <p:spPr>
          <a:xfrm>
            <a:off x="104775" y="1047750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-2">
            <a:extLst>
              <a:ext uri="{FF2B5EF4-FFF2-40B4-BE49-F238E27FC236}">
                <a16:creationId xmlns:a16="http://schemas.microsoft.com/office/drawing/2014/main" id="{58BD809F-9CF4-41C4-B1AD-DF60FC901FB1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7" name="text-3">
            <a:extLst>
              <a:ext uri="{FF2B5EF4-FFF2-40B4-BE49-F238E27FC236}">
                <a16:creationId xmlns:a16="http://schemas.microsoft.com/office/drawing/2014/main" id="{2EEFD9D3-C402-4074-A1BD-0477821B3814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8" name="text-4">
            <a:extLst>
              <a:ext uri="{FF2B5EF4-FFF2-40B4-BE49-F238E27FC236}">
                <a16:creationId xmlns:a16="http://schemas.microsoft.com/office/drawing/2014/main" id="{7B550700-80D1-47E4-9494-05A82715A381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9" name="text-5">
            <a:extLst>
              <a:ext uri="{FF2B5EF4-FFF2-40B4-BE49-F238E27FC236}">
                <a16:creationId xmlns:a16="http://schemas.microsoft.com/office/drawing/2014/main" id="{2CDBED54-6E16-47C4-89AB-FA88A3F2D9DE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10" name="text-6">
            <a:extLst>
              <a:ext uri="{FF2B5EF4-FFF2-40B4-BE49-F238E27FC236}">
                <a16:creationId xmlns:a16="http://schemas.microsoft.com/office/drawing/2014/main" id="{0AB3E178-B905-48F6-97E7-E74A921A2759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1" name="text-7">
            <a:extLst>
              <a:ext uri="{FF2B5EF4-FFF2-40B4-BE49-F238E27FC236}">
                <a16:creationId xmlns:a16="http://schemas.microsoft.com/office/drawing/2014/main" id="{EFFAF5C8-3311-4A5F-B37B-8B6D3DDE0C39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2" name="text-8">
            <a:extLst>
              <a:ext uri="{FF2B5EF4-FFF2-40B4-BE49-F238E27FC236}">
                <a16:creationId xmlns:a16="http://schemas.microsoft.com/office/drawing/2014/main" id="{EB7AEE3A-D14D-4277-837B-C3AB54A43AB7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9">
            <a:extLst>
              <a:ext uri="{FF2B5EF4-FFF2-40B4-BE49-F238E27FC236}">
                <a16:creationId xmlns:a16="http://schemas.microsoft.com/office/drawing/2014/main" id="{A1AB9BF0-4646-4B94-B4C7-ACD4D627ABA2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5" name="text-11">
            <a:extLst>
              <a:ext uri="{FF2B5EF4-FFF2-40B4-BE49-F238E27FC236}">
                <a16:creationId xmlns:a16="http://schemas.microsoft.com/office/drawing/2014/main" id="{11BF31E6-CA4F-42B4-9E42-79A77E44BCBE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Análisis inmobiliario urbano</a:t>
            </a:r>
          </a:p>
        </p:txBody>
      </p:sp>
      <p:sp>
        <p:nvSpPr>
          <p:cNvPr id="16" name="text-12">
            <a:extLst>
              <a:ext uri="{FF2B5EF4-FFF2-40B4-BE49-F238E27FC236}">
                <a16:creationId xmlns:a16="http://schemas.microsoft.com/office/drawing/2014/main" id="{E8BCBCFC-1AC9-4E2B-B5C1-FCBF8AA0E4D3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¿En qué municipio conviene profundizar mi estudio?</a:t>
            </a:r>
          </a:p>
        </p:txBody>
      </p:sp>
      <p:sp>
        <p:nvSpPr>
          <p:cNvPr id="17" name="panel-13">
            <a:extLst>
              <a:ext uri="{FF2B5EF4-FFF2-40B4-BE49-F238E27FC236}">
                <a16:creationId xmlns:a16="http://schemas.microsoft.com/office/drawing/2014/main" id="{D26E7DCB-EBF3-426B-AD86-6566581CF13B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10058400" cy="54292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-14">
            <a:extLst>
              <a:ext uri="{FF2B5EF4-FFF2-40B4-BE49-F238E27FC236}">
                <a16:creationId xmlns:a16="http://schemas.microsoft.com/office/drawing/2014/main" id="{3E374475-954F-4418-93E0-FB1C5EAF4DF3}"/>
              </a:ext>
            </a:extLst>
          </p:cNvPr>
          <p:cNvSpPr>
            <a:spLocks noGrp="1"/>
          </p:cNvSpPr>
          <p:nvPr/>
        </p:nvSpPr>
        <p:spPr>
          <a:xfrm>
            <a:off x="1971675" y="1343025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Año: 2023   |   Armenia · Manizales · Pereira   |   COMPRAVENTA y URBANO</a:t>
            </a:r>
          </a:p>
        </p:txBody>
      </p:sp>
      <p:sp>
        <p:nvSpPr>
          <p:cNvPr id="19" name="panel-15">
            <a:extLst>
              <a:ext uri="{FF2B5EF4-FFF2-40B4-BE49-F238E27FC236}">
                <a16:creationId xmlns:a16="http://schemas.microsoft.com/office/drawing/2014/main" id="{42EDDDF6-B838-4E8E-B03D-6EA01397A694}"/>
              </a:ext>
            </a:extLst>
          </p:cNvPr>
          <p:cNvSpPr>
            <a:spLocks noGrp="1"/>
          </p:cNvSpPr>
          <p:nvPr/>
        </p:nvSpPr>
        <p:spPr>
          <a:xfrm>
            <a:off x="10201275" y="1266825"/>
            <a:ext cx="1457325" cy="314325"/>
          </a:xfrm>
          <a:prstGeom prst="roundRect">
            <a:avLst>
              <a:gd name="adj" fmla="val 18182"/>
            </a:avLst>
          </a:prstGeom>
          <a:solidFill>
            <a:srgbClr val="2E86D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-16">
            <a:extLst>
              <a:ext uri="{FF2B5EF4-FFF2-40B4-BE49-F238E27FC236}">
                <a16:creationId xmlns:a16="http://schemas.microsoft.com/office/drawing/2014/main" id="{5427C978-5D38-40F9-82E6-9E216CF9182E}"/>
              </a:ext>
            </a:extLst>
          </p:cNvPr>
          <p:cNvSpPr>
            <a:spLocks noGrp="1"/>
          </p:cNvSpPr>
          <p:nvPr/>
        </p:nvSpPr>
        <p:spPr>
          <a:xfrm>
            <a:off x="10277475" y="1343025"/>
            <a:ext cx="13049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 COMPARACIÓN</a:t>
            </a:r>
          </a:p>
        </p:txBody>
      </p:sp>
      <p:sp>
        <p:nvSpPr>
          <p:cNvPr id="21" name="text-17">
            <a:extLst>
              <a:ext uri="{FF2B5EF4-FFF2-40B4-BE49-F238E27FC236}">
                <a16:creationId xmlns:a16="http://schemas.microsoft.com/office/drawing/2014/main" id="{2FF2886F-A112-4DCC-8957-EDB0F3ADCB1F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22" name="text-18">
            <a:extLst>
              <a:ext uri="{FF2B5EF4-FFF2-40B4-BE49-F238E27FC236}">
                <a16:creationId xmlns:a16="http://schemas.microsoft.com/office/drawing/2014/main" id="{106BB32C-D741-4171-9DA4-98009BEB095A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01 / 08</a:t>
            </a:r>
          </a:p>
        </p:txBody>
      </p:sp>
      <p:sp>
        <p:nvSpPr>
          <p:cNvPr id="23" name="panel-19">
            <a:extLst>
              <a:ext uri="{FF2B5EF4-FFF2-40B4-BE49-F238E27FC236}">
                <a16:creationId xmlns:a16="http://schemas.microsoft.com/office/drawing/2014/main" id="{389E08F1-DAB3-4F82-8E23-8230590DA1DB}"/>
              </a:ext>
            </a:extLst>
          </p:cNvPr>
          <p:cNvSpPr>
            <a:spLocks noGrp="1"/>
          </p:cNvSpPr>
          <p:nvPr/>
        </p:nvSpPr>
        <p:spPr>
          <a:xfrm>
            <a:off x="1781175" y="1876425"/>
            <a:ext cx="3219450" cy="1476375"/>
          </a:xfrm>
          <a:prstGeom prst="roundRect">
            <a:avLst>
              <a:gd name="adj" fmla="val 7742"/>
            </a:avLst>
          </a:prstGeom>
          <a:solidFill>
            <a:srgbClr val="E5F1FB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-20">
            <a:extLst>
              <a:ext uri="{FF2B5EF4-FFF2-40B4-BE49-F238E27FC236}">
                <a16:creationId xmlns:a16="http://schemas.microsoft.com/office/drawing/2014/main" id="{24E04F26-6D42-452A-9E59-FA4F4F6628CB}"/>
              </a:ext>
            </a:extLst>
          </p:cNvPr>
          <p:cNvSpPr>
            <a:spLocks noGrp="1"/>
          </p:cNvSpPr>
          <p:nvPr/>
        </p:nvSpPr>
        <p:spPr>
          <a:xfrm>
            <a:off x="1933575" y="2009775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86D1"/>
                </a:solidFill>
                <a:latin typeface="Aptos"/>
                <a:ea typeface="Aptos"/>
                <a:cs typeface="Aptos"/>
              </a:rPr>
              <a:t>Armenia</a:t>
            </a:r>
          </a:p>
        </p:txBody>
      </p:sp>
      <p:sp>
        <p:nvSpPr>
          <p:cNvPr id="25" name="text-21">
            <a:extLst>
              <a:ext uri="{FF2B5EF4-FFF2-40B4-BE49-F238E27FC236}">
                <a16:creationId xmlns:a16="http://schemas.microsoft.com/office/drawing/2014/main" id="{AEA78BB4-876B-44F9-A46B-FAE3F21D18EA}"/>
              </a:ext>
            </a:extLst>
          </p:cNvPr>
          <p:cNvSpPr>
            <a:spLocks noGrp="1"/>
          </p:cNvSpPr>
          <p:nvPr/>
        </p:nvSpPr>
        <p:spPr>
          <a:xfrm>
            <a:off x="1933575" y="23241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86D1"/>
                </a:solidFill>
                <a:latin typeface="Aptos"/>
                <a:ea typeface="Aptos"/>
                <a:cs typeface="Aptos"/>
              </a:rPr>
              <a:t>9.672 registros</a:t>
            </a:r>
          </a:p>
        </p:txBody>
      </p:sp>
      <p:sp>
        <p:nvSpPr>
          <p:cNvPr id="26" name="text-22">
            <a:extLst>
              <a:ext uri="{FF2B5EF4-FFF2-40B4-BE49-F238E27FC236}">
                <a16:creationId xmlns:a16="http://schemas.microsoft.com/office/drawing/2014/main" id="{D0EECA2D-6C00-4A85-84A1-7D006CFF37A8}"/>
              </a:ext>
            </a:extLst>
          </p:cNvPr>
          <p:cNvSpPr>
            <a:spLocks noGrp="1"/>
          </p:cNvSpPr>
          <p:nvPr/>
        </p:nvSpPr>
        <p:spPr>
          <a:xfrm>
            <a:off x="1933575" y="2657475"/>
            <a:ext cx="2876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43,46 % de los tres municipios</a:t>
            </a:r>
          </a:p>
        </p:txBody>
      </p:sp>
      <p:sp>
        <p:nvSpPr>
          <p:cNvPr id="27" name="text-23">
            <a:extLst>
              <a:ext uri="{FF2B5EF4-FFF2-40B4-BE49-F238E27FC236}">
                <a16:creationId xmlns:a16="http://schemas.microsoft.com/office/drawing/2014/main" id="{78FA2AE9-9C1D-4D8D-A81B-30E3D7C8D5A9}"/>
              </a:ext>
            </a:extLst>
          </p:cNvPr>
          <p:cNvSpPr>
            <a:spLocks noGrp="1"/>
          </p:cNvSpPr>
          <p:nvPr/>
        </p:nvSpPr>
        <p:spPr>
          <a:xfrm>
            <a:off x="1933575" y="2914650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Cambio 2023/2022: -4,04 %</a:t>
            </a:r>
          </a:p>
        </p:txBody>
      </p:sp>
      <p:sp>
        <p:nvSpPr>
          <p:cNvPr id="28" name="panel-24">
            <a:extLst>
              <a:ext uri="{FF2B5EF4-FFF2-40B4-BE49-F238E27FC236}">
                <a16:creationId xmlns:a16="http://schemas.microsoft.com/office/drawing/2014/main" id="{6B2CB5BD-E587-4C69-B22B-E953E3CB2A63}"/>
              </a:ext>
            </a:extLst>
          </p:cNvPr>
          <p:cNvSpPr>
            <a:spLocks noGrp="1"/>
          </p:cNvSpPr>
          <p:nvPr/>
        </p:nvSpPr>
        <p:spPr>
          <a:xfrm>
            <a:off x="5200650" y="1876425"/>
            <a:ext cx="3219450" cy="1476375"/>
          </a:xfrm>
          <a:prstGeom prst="roundRect">
            <a:avLst>
              <a:gd name="adj" fmla="val 7742"/>
            </a:avLst>
          </a:prstGeom>
          <a:solidFill>
            <a:srgbClr val="E4F4E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-25">
            <a:extLst>
              <a:ext uri="{FF2B5EF4-FFF2-40B4-BE49-F238E27FC236}">
                <a16:creationId xmlns:a16="http://schemas.microsoft.com/office/drawing/2014/main" id="{1588381F-788A-445A-95CC-28534EEA5E01}"/>
              </a:ext>
            </a:extLst>
          </p:cNvPr>
          <p:cNvSpPr>
            <a:spLocks noGrp="1"/>
          </p:cNvSpPr>
          <p:nvPr/>
        </p:nvSpPr>
        <p:spPr>
          <a:xfrm>
            <a:off x="5353050" y="2009775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B07F"/>
                </a:solidFill>
                <a:latin typeface="Aptos"/>
                <a:ea typeface="Aptos"/>
                <a:cs typeface="Aptos"/>
              </a:rPr>
              <a:t>Manizales</a:t>
            </a:r>
          </a:p>
        </p:txBody>
      </p:sp>
      <p:sp>
        <p:nvSpPr>
          <p:cNvPr id="30" name="text-26">
            <a:extLst>
              <a:ext uri="{FF2B5EF4-FFF2-40B4-BE49-F238E27FC236}">
                <a16:creationId xmlns:a16="http://schemas.microsoft.com/office/drawing/2014/main" id="{B2AFE1D4-1286-4919-8B9E-F37E826AA996}"/>
              </a:ext>
            </a:extLst>
          </p:cNvPr>
          <p:cNvSpPr>
            <a:spLocks noGrp="1"/>
          </p:cNvSpPr>
          <p:nvPr/>
        </p:nvSpPr>
        <p:spPr>
          <a:xfrm>
            <a:off x="5353050" y="23241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BB07F"/>
                </a:solidFill>
                <a:latin typeface="Aptos"/>
                <a:ea typeface="Aptos"/>
                <a:cs typeface="Aptos"/>
              </a:rPr>
              <a:t>6.362 registros</a:t>
            </a:r>
          </a:p>
        </p:txBody>
      </p:sp>
      <p:sp>
        <p:nvSpPr>
          <p:cNvPr id="31" name="text-27">
            <a:extLst>
              <a:ext uri="{FF2B5EF4-FFF2-40B4-BE49-F238E27FC236}">
                <a16:creationId xmlns:a16="http://schemas.microsoft.com/office/drawing/2014/main" id="{0B4720CC-04CA-45A7-8B6A-6626DF04F99C}"/>
              </a:ext>
            </a:extLst>
          </p:cNvPr>
          <p:cNvSpPr>
            <a:spLocks noGrp="1"/>
          </p:cNvSpPr>
          <p:nvPr/>
        </p:nvSpPr>
        <p:spPr>
          <a:xfrm>
            <a:off x="5353050" y="2657475"/>
            <a:ext cx="2876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28,58 % de los tres municipios</a:t>
            </a:r>
          </a:p>
        </p:txBody>
      </p:sp>
      <p:sp>
        <p:nvSpPr>
          <p:cNvPr id="32" name="text-28">
            <a:extLst>
              <a:ext uri="{FF2B5EF4-FFF2-40B4-BE49-F238E27FC236}">
                <a16:creationId xmlns:a16="http://schemas.microsoft.com/office/drawing/2014/main" id="{772330A3-BF4E-47E8-AF6F-A4443FD8A02A}"/>
              </a:ext>
            </a:extLst>
          </p:cNvPr>
          <p:cNvSpPr>
            <a:spLocks noGrp="1"/>
          </p:cNvSpPr>
          <p:nvPr/>
        </p:nvSpPr>
        <p:spPr>
          <a:xfrm>
            <a:off x="5353050" y="2914650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Cambio 2023/2022: -25,86 %</a:t>
            </a:r>
          </a:p>
        </p:txBody>
      </p:sp>
      <p:sp>
        <p:nvSpPr>
          <p:cNvPr id="33" name="panel-29">
            <a:extLst>
              <a:ext uri="{FF2B5EF4-FFF2-40B4-BE49-F238E27FC236}">
                <a16:creationId xmlns:a16="http://schemas.microsoft.com/office/drawing/2014/main" id="{07E74C66-C051-4164-B08F-DED22148A19A}"/>
              </a:ext>
            </a:extLst>
          </p:cNvPr>
          <p:cNvSpPr>
            <a:spLocks noGrp="1"/>
          </p:cNvSpPr>
          <p:nvPr/>
        </p:nvSpPr>
        <p:spPr>
          <a:xfrm>
            <a:off x="8620125" y="1876425"/>
            <a:ext cx="3219450" cy="1476375"/>
          </a:xfrm>
          <a:prstGeom prst="roundRect">
            <a:avLst>
              <a:gd name="adj" fmla="val 7742"/>
            </a:avLst>
          </a:prstGeom>
          <a:solidFill>
            <a:srgbClr val="FCEBD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-30">
            <a:extLst>
              <a:ext uri="{FF2B5EF4-FFF2-40B4-BE49-F238E27FC236}">
                <a16:creationId xmlns:a16="http://schemas.microsoft.com/office/drawing/2014/main" id="{EB6B2A2E-FE3D-4050-A1C6-F10A628DC74C}"/>
              </a:ext>
            </a:extLst>
          </p:cNvPr>
          <p:cNvSpPr>
            <a:spLocks noGrp="1"/>
          </p:cNvSpPr>
          <p:nvPr/>
        </p:nvSpPr>
        <p:spPr>
          <a:xfrm>
            <a:off x="8772525" y="2009775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8A28"/>
                </a:solidFill>
                <a:latin typeface="Aptos"/>
                <a:ea typeface="Aptos"/>
                <a:cs typeface="Aptos"/>
              </a:rPr>
              <a:t>Pereira</a:t>
            </a:r>
          </a:p>
        </p:txBody>
      </p:sp>
      <p:sp>
        <p:nvSpPr>
          <p:cNvPr id="35" name="text-31">
            <a:extLst>
              <a:ext uri="{FF2B5EF4-FFF2-40B4-BE49-F238E27FC236}">
                <a16:creationId xmlns:a16="http://schemas.microsoft.com/office/drawing/2014/main" id="{422913DB-C19F-4C36-9F41-681849BCDD09}"/>
              </a:ext>
            </a:extLst>
          </p:cNvPr>
          <p:cNvSpPr>
            <a:spLocks noGrp="1"/>
          </p:cNvSpPr>
          <p:nvPr/>
        </p:nvSpPr>
        <p:spPr>
          <a:xfrm>
            <a:off x="8772525" y="23241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A28"/>
                </a:solidFill>
                <a:latin typeface="Aptos"/>
                <a:ea typeface="Aptos"/>
                <a:cs typeface="Aptos"/>
              </a:rPr>
              <a:t>6.223 registros</a:t>
            </a:r>
          </a:p>
        </p:txBody>
      </p:sp>
      <p:sp>
        <p:nvSpPr>
          <p:cNvPr id="36" name="text-32">
            <a:extLst>
              <a:ext uri="{FF2B5EF4-FFF2-40B4-BE49-F238E27FC236}">
                <a16:creationId xmlns:a16="http://schemas.microsoft.com/office/drawing/2014/main" id="{18F1763E-963A-46BB-A80E-2C84ED887046}"/>
              </a:ext>
            </a:extLst>
          </p:cNvPr>
          <p:cNvSpPr>
            <a:spLocks noGrp="1"/>
          </p:cNvSpPr>
          <p:nvPr/>
        </p:nvSpPr>
        <p:spPr>
          <a:xfrm>
            <a:off x="8772525" y="2657475"/>
            <a:ext cx="2876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27,96 % de los tres municipios</a:t>
            </a:r>
          </a:p>
        </p:txBody>
      </p:sp>
      <p:sp>
        <p:nvSpPr>
          <p:cNvPr id="37" name="text-33">
            <a:extLst>
              <a:ext uri="{FF2B5EF4-FFF2-40B4-BE49-F238E27FC236}">
                <a16:creationId xmlns:a16="http://schemas.microsoft.com/office/drawing/2014/main" id="{B5BC4CA5-D2F4-4E01-99DB-E096E1A405A7}"/>
              </a:ext>
            </a:extLst>
          </p:cNvPr>
          <p:cNvSpPr>
            <a:spLocks noGrp="1"/>
          </p:cNvSpPr>
          <p:nvPr/>
        </p:nvSpPr>
        <p:spPr>
          <a:xfrm>
            <a:off x="8772525" y="2914650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Cambio 2023/2022: -15,62 %</a:t>
            </a:r>
          </a:p>
        </p:txBody>
      </p:sp>
      <p:sp>
        <p:nvSpPr>
          <p:cNvPr id="38" name="panel-34">
            <a:extLst>
              <a:ext uri="{FF2B5EF4-FFF2-40B4-BE49-F238E27FC236}">
                <a16:creationId xmlns:a16="http://schemas.microsoft.com/office/drawing/2014/main" id="{14E45624-544C-474D-820E-AFCD7368558B}"/>
              </a:ext>
            </a:extLst>
          </p:cNvPr>
          <p:cNvSpPr>
            <a:spLocks noGrp="1"/>
          </p:cNvSpPr>
          <p:nvPr/>
        </p:nvSpPr>
        <p:spPr>
          <a:xfrm>
            <a:off x="1781175" y="3533775"/>
            <a:ext cx="4895850" cy="2257425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-35">
            <a:extLst>
              <a:ext uri="{FF2B5EF4-FFF2-40B4-BE49-F238E27FC236}">
                <a16:creationId xmlns:a16="http://schemas.microsoft.com/office/drawing/2014/main" id="{CAC7E39F-795E-419E-B85B-C0ACC17F8514}"/>
              </a:ext>
            </a:extLst>
          </p:cNvPr>
          <p:cNvSpPr>
            <a:spLocks noGrp="1"/>
          </p:cNvSpPr>
          <p:nvPr/>
        </p:nvSpPr>
        <p:spPr>
          <a:xfrm>
            <a:off x="1943100" y="3676650"/>
            <a:ext cx="457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¿La actividad aumenta o disminuye?</a:t>
            </a:r>
          </a:p>
        </p:txBody>
      </p:sp>
      <p:sp>
        <p:nvSpPr>
          <p:cNvPr id="40" name="panel-36">
            <a:extLst>
              <a:ext uri="{FF2B5EF4-FFF2-40B4-BE49-F238E27FC236}">
                <a16:creationId xmlns:a16="http://schemas.microsoft.com/office/drawing/2014/main" id="{37D8994C-BF5A-4854-89F0-7A7417675C09}"/>
              </a:ext>
            </a:extLst>
          </p:cNvPr>
          <p:cNvSpPr>
            <a:spLocks noGrp="1"/>
          </p:cNvSpPr>
          <p:nvPr/>
        </p:nvSpPr>
        <p:spPr>
          <a:xfrm>
            <a:off x="6905625" y="3533775"/>
            <a:ext cx="4933950" cy="2257425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-37">
            <a:extLst>
              <a:ext uri="{FF2B5EF4-FFF2-40B4-BE49-F238E27FC236}">
                <a16:creationId xmlns:a16="http://schemas.microsoft.com/office/drawing/2014/main" id="{53F4F345-BC49-462B-BB29-F0BFEB780349}"/>
              </a:ext>
            </a:extLst>
          </p:cNvPr>
          <p:cNvSpPr>
            <a:spLocks noGrp="1"/>
          </p:cNvSpPr>
          <p:nvPr/>
        </p:nvSpPr>
        <p:spPr>
          <a:xfrm>
            <a:off x="7067550" y="3676650"/>
            <a:ext cx="4610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¿Qué valores se registran normalmente?</a:t>
            </a:r>
          </a:p>
        </p:txBody>
      </p:sp>
      <p:graphicFrame>
        <p:nvGraphicFramePr>
          <p:cNvPr id="42" name="Chart">
            <a:extLst>
              <a:ext uri="{FF2B5EF4-FFF2-40B4-BE49-F238E27FC236}">
                <a16:creationId xmlns:a16="http://schemas.microsoft.com/office/drawing/2014/main" id="{CC64507A-7364-47F9-9D6F-3022D998C5FB}"/>
              </a:ext>
            </a:extLst>
          </p:cNvPr>
          <p:cNvGraphicFramePr/>
          <p:nvPr/>
        </p:nvGraphicFramePr>
        <p:xfrm>
          <a:off x="1943100" y="4152900"/>
          <a:ext cx="4572000" cy="1466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3" name="Chart">
            <a:extLst>
              <a:ext uri="{FF2B5EF4-FFF2-40B4-BE49-F238E27FC236}">
                <a16:creationId xmlns:a16="http://schemas.microsoft.com/office/drawing/2014/main" id="{B1123715-A6F2-4C23-845D-E65407DE501F}"/>
              </a:ext>
            </a:extLst>
          </p:cNvPr>
          <p:cNvGraphicFramePr/>
          <p:nvPr/>
        </p:nvGraphicFramePr>
        <p:xfrm>
          <a:off x="7067550" y="4152900"/>
          <a:ext cx="4610100" cy="1466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4" name="text-38">
            <a:extLst>
              <a:ext uri="{FF2B5EF4-FFF2-40B4-BE49-F238E27FC236}">
                <a16:creationId xmlns:a16="http://schemas.microsoft.com/office/drawing/2014/main" id="{0C671138-0E87-4058-A5A3-64EF12129761}"/>
              </a:ext>
            </a:extLst>
          </p:cNvPr>
          <p:cNvSpPr>
            <a:spLocks noGrp="1"/>
          </p:cNvSpPr>
          <p:nvPr/>
        </p:nvSpPr>
        <p:spPr>
          <a:xfrm>
            <a:off x="1952625" y="3943350"/>
            <a:ext cx="4476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Registros con filtros monetarios · 2015–2023</a:t>
            </a:r>
          </a:p>
        </p:txBody>
      </p:sp>
      <p:sp>
        <p:nvSpPr>
          <p:cNvPr id="45" name="text-39">
            <a:extLst>
              <a:ext uri="{FF2B5EF4-FFF2-40B4-BE49-F238E27FC236}">
                <a16:creationId xmlns:a16="http://schemas.microsoft.com/office/drawing/2014/main" id="{772EFB0B-2262-4D7E-8522-115D59A85792}"/>
              </a:ext>
            </a:extLst>
          </p:cNvPr>
          <p:cNvSpPr>
            <a:spLocks noGrp="1"/>
          </p:cNvSpPr>
          <p:nvPr/>
        </p:nvSpPr>
        <p:spPr>
          <a:xfrm>
            <a:off x="7077075" y="3943350"/>
            <a:ext cx="4476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Mediana en millones de COP · 2015–2023</a:t>
            </a:r>
          </a:p>
        </p:txBody>
      </p:sp>
      <p:sp>
        <p:nvSpPr>
          <p:cNvPr id="46" name="panel-40">
            <a:extLst>
              <a:ext uri="{FF2B5EF4-FFF2-40B4-BE49-F238E27FC236}">
                <a16:creationId xmlns:a16="http://schemas.microsoft.com/office/drawing/2014/main" id="{846951FF-2483-4142-94B3-2FEF8E106664}"/>
              </a:ext>
            </a:extLst>
          </p:cNvPr>
          <p:cNvSpPr>
            <a:spLocks noGrp="1"/>
          </p:cNvSpPr>
          <p:nvPr/>
        </p:nvSpPr>
        <p:spPr>
          <a:xfrm>
            <a:off x="1781175" y="5943600"/>
            <a:ext cx="10058400" cy="457200"/>
          </a:xfrm>
          <a:prstGeom prst="roundRect">
            <a:avLst>
              <a:gd name="adj" fmla="val 25000"/>
            </a:avLst>
          </a:prstGeom>
          <a:solidFill>
            <a:srgbClr val="ECEAFA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-41">
            <a:extLst>
              <a:ext uri="{FF2B5EF4-FFF2-40B4-BE49-F238E27FC236}">
                <a16:creationId xmlns:a16="http://schemas.microsoft.com/office/drawing/2014/main" id="{7411A016-57F4-4BBB-8466-352E09679105}"/>
              </a:ext>
            </a:extLst>
          </p:cNvPr>
          <p:cNvSpPr>
            <a:spLocks noGrp="1"/>
          </p:cNvSpPr>
          <p:nvPr/>
        </p:nvSpPr>
        <p:spPr>
          <a:xfrm>
            <a:off x="1952625" y="6096000"/>
            <a:ext cx="960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endParaRPr sz="1050" b="1" dirty="0">
              <a:solidFill>
                <a:srgbClr val="6F63C7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674411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06F6226-23E3-4FBA-9385-7C3A0F6132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D9D4BA-9D66-44CC-A4B1-70D8016EC8D3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3C2EFDB-A4B7-461E-9662-9DE072E3CE8E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text-42">
            <a:extLst>
              <a:ext uri="{FF2B5EF4-FFF2-40B4-BE49-F238E27FC236}">
                <a16:creationId xmlns:a16="http://schemas.microsoft.com/office/drawing/2014/main" id="{79F548B8-D793-4280-A9FB-05C240064987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6" name="panel-43">
            <a:extLst>
              <a:ext uri="{FF2B5EF4-FFF2-40B4-BE49-F238E27FC236}">
                <a16:creationId xmlns:a16="http://schemas.microsoft.com/office/drawing/2014/main" id="{73DFD58A-42BD-4312-A4A7-D50B835172B0}"/>
              </a:ext>
            </a:extLst>
          </p:cNvPr>
          <p:cNvSpPr>
            <a:spLocks noGrp="1"/>
          </p:cNvSpPr>
          <p:nvPr/>
        </p:nvSpPr>
        <p:spPr>
          <a:xfrm>
            <a:off x="104775" y="1552575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-44">
            <a:extLst>
              <a:ext uri="{FF2B5EF4-FFF2-40B4-BE49-F238E27FC236}">
                <a16:creationId xmlns:a16="http://schemas.microsoft.com/office/drawing/2014/main" id="{08C6635C-46BC-4E43-95B5-7E1601B00DF4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8" name="text-45">
            <a:extLst>
              <a:ext uri="{FF2B5EF4-FFF2-40B4-BE49-F238E27FC236}">
                <a16:creationId xmlns:a16="http://schemas.microsoft.com/office/drawing/2014/main" id="{000820F0-5DA3-4042-BCDD-24EC1912625E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9" name="text-46">
            <a:extLst>
              <a:ext uri="{FF2B5EF4-FFF2-40B4-BE49-F238E27FC236}">
                <a16:creationId xmlns:a16="http://schemas.microsoft.com/office/drawing/2014/main" id="{69230343-2F56-4922-8BD4-F4E9B538C569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10" name="text-47">
            <a:extLst>
              <a:ext uri="{FF2B5EF4-FFF2-40B4-BE49-F238E27FC236}">
                <a16:creationId xmlns:a16="http://schemas.microsoft.com/office/drawing/2014/main" id="{1BA5B50B-0B5D-4423-B7BC-6BAF0F9B7DF5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1" name="text-48">
            <a:extLst>
              <a:ext uri="{FF2B5EF4-FFF2-40B4-BE49-F238E27FC236}">
                <a16:creationId xmlns:a16="http://schemas.microsoft.com/office/drawing/2014/main" id="{A4537DC1-137B-40DB-9F60-C60A8ED747E9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2" name="text-49">
            <a:extLst>
              <a:ext uri="{FF2B5EF4-FFF2-40B4-BE49-F238E27FC236}">
                <a16:creationId xmlns:a16="http://schemas.microsoft.com/office/drawing/2014/main" id="{197D2257-5532-46A3-9790-84487CC4DD9C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50">
            <a:extLst>
              <a:ext uri="{FF2B5EF4-FFF2-40B4-BE49-F238E27FC236}">
                <a16:creationId xmlns:a16="http://schemas.microsoft.com/office/drawing/2014/main" id="{1EE2D7D6-E7F1-4857-A4C2-F4331EEA4C09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5" name="text-52">
            <a:extLst>
              <a:ext uri="{FF2B5EF4-FFF2-40B4-BE49-F238E27FC236}">
                <a16:creationId xmlns:a16="http://schemas.microsoft.com/office/drawing/2014/main" id="{922A9D1D-522B-4947-A8A8-A51F81DB4E27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Análisis por municipio</a:t>
            </a:r>
          </a:p>
        </p:txBody>
      </p:sp>
      <p:sp>
        <p:nvSpPr>
          <p:cNvPr id="16" name="text-53">
            <a:extLst>
              <a:ext uri="{FF2B5EF4-FFF2-40B4-BE49-F238E27FC236}">
                <a16:creationId xmlns:a16="http://schemas.microsoft.com/office/drawing/2014/main" id="{BA68D4DA-90B3-49F7-9FE4-967F111F4975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Detalle para interpretar los resultados antes de continuar.</a:t>
            </a:r>
          </a:p>
        </p:txBody>
      </p:sp>
      <p:sp>
        <p:nvSpPr>
          <p:cNvPr id="17" name="panel-54">
            <a:extLst>
              <a:ext uri="{FF2B5EF4-FFF2-40B4-BE49-F238E27FC236}">
                <a16:creationId xmlns:a16="http://schemas.microsoft.com/office/drawing/2014/main" id="{B9F9BC1A-AB30-4ABD-9CB9-6B805CF156C1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10058400" cy="54292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-55">
            <a:extLst>
              <a:ext uri="{FF2B5EF4-FFF2-40B4-BE49-F238E27FC236}">
                <a16:creationId xmlns:a16="http://schemas.microsoft.com/office/drawing/2014/main" id="{6CCA84F6-5A91-4897-B670-64779DFF50BF}"/>
              </a:ext>
            </a:extLst>
          </p:cNvPr>
          <p:cNvSpPr>
            <a:spLocks noGrp="1"/>
          </p:cNvSpPr>
          <p:nvPr/>
        </p:nvSpPr>
        <p:spPr>
          <a:xfrm>
            <a:off x="1971675" y="1343025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Municipio: Armenia   |   Año: 2023   |   COMPRAVENTA y URBANO</a:t>
            </a:r>
          </a:p>
        </p:txBody>
      </p:sp>
      <p:sp>
        <p:nvSpPr>
          <p:cNvPr id="19" name="panel-56">
            <a:extLst>
              <a:ext uri="{FF2B5EF4-FFF2-40B4-BE49-F238E27FC236}">
                <a16:creationId xmlns:a16="http://schemas.microsoft.com/office/drawing/2014/main" id="{C987DCAF-6CFA-4342-924B-50FEA7A2153C}"/>
              </a:ext>
            </a:extLst>
          </p:cNvPr>
          <p:cNvSpPr>
            <a:spLocks noGrp="1"/>
          </p:cNvSpPr>
          <p:nvPr/>
        </p:nvSpPr>
        <p:spPr>
          <a:xfrm>
            <a:off x="10201275" y="1266825"/>
            <a:ext cx="1457325" cy="314325"/>
          </a:xfrm>
          <a:prstGeom prst="roundRect">
            <a:avLst>
              <a:gd name="adj" fmla="val 18182"/>
            </a:avLst>
          </a:prstGeom>
          <a:solidFill>
            <a:srgbClr val="2E86D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-57">
            <a:extLst>
              <a:ext uri="{FF2B5EF4-FFF2-40B4-BE49-F238E27FC236}">
                <a16:creationId xmlns:a16="http://schemas.microsoft.com/office/drawing/2014/main" id="{7B0FA9DB-3A84-400C-9676-0A7FF8B1BCE7}"/>
              </a:ext>
            </a:extLst>
          </p:cNvPr>
          <p:cNvSpPr>
            <a:spLocks noGrp="1"/>
          </p:cNvSpPr>
          <p:nvPr/>
        </p:nvSpPr>
        <p:spPr>
          <a:xfrm>
            <a:off x="10277475" y="1343025"/>
            <a:ext cx="13049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 COMPARACIÓN</a:t>
            </a:r>
          </a:p>
        </p:txBody>
      </p:sp>
      <p:sp>
        <p:nvSpPr>
          <p:cNvPr id="21" name="text-58">
            <a:extLst>
              <a:ext uri="{FF2B5EF4-FFF2-40B4-BE49-F238E27FC236}">
                <a16:creationId xmlns:a16="http://schemas.microsoft.com/office/drawing/2014/main" id="{B1890A24-3216-4493-8F7A-6962048F9454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22" name="text-59">
            <a:extLst>
              <a:ext uri="{FF2B5EF4-FFF2-40B4-BE49-F238E27FC236}">
                <a16:creationId xmlns:a16="http://schemas.microsoft.com/office/drawing/2014/main" id="{75673701-390C-4A54-A93F-3FEE3519FCD6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02 / 08</a:t>
            </a:r>
          </a:p>
        </p:txBody>
      </p:sp>
      <p:sp>
        <p:nvSpPr>
          <p:cNvPr id="23" name="panel-60">
            <a:extLst>
              <a:ext uri="{FF2B5EF4-FFF2-40B4-BE49-F238E27FC236}">
                <a16:creationId xmlns:a16="http://schemas.microsoft.com/office/drawing/2014/main" id="{4690343D-C080-4C03-8212-CE4C77D3F522}"/>
              </a:ext>
            </a:extLst>
          </p:cNvPr>
          <p:cNvSpPr>
            <a:spLocks noGrp="1"/>
          </p:cNvSpPr>
          <p:nvPr/>
        </p:nvSpPr>
        <p:spPr>
          <a:xfrm>
            <a:off x="1781175" y="1876425"/>
            <a:ext cx="2371725" cy="866775"/>
          </a:xfrm>
          <a:prstGeom prst="roundRect">
            <a:avLst>
              <a:gd name="adj" fmla="val 13187"/>
            </a:avLst>
          </a:prstGeom>
          <a:solidFill>
            <a:srgbClr val="E5F1FB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-61">
            <a:extLst>
              <a:ext uri="{FF2B5EF4-FFF2-40B4-BE49-F238E27FC236}">
                <a16:creationId xmlns:a16="http://schemas.microsoft.com/office/drawing/2014/main" id="{61CAB0B6-D996-4AE8-B4BA-ECE76ABF6724}"/>
              </a:ext>
            </a:extLst>
          </p:cNvPr>
          <p:cNvSpPr>
            <a:spLocks noGrp="1"/>
          </p:cNvSpPr>
          <p:nvPr/>
        </p:nvSpPr>
        <p:spPr>
          <a:xfrm>
            <a:off x="1924050" y="1990725"/>
            <a:ext cx="20859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Registros en 2023</a:t>
            </a:r>
          </a:p>
        </p:txBody>
      </p:sp>
      <p:sp>
        <p:nvSpPr>
          <p:cNvPr id="25" name="text-62">
            <a:extLst>
              <a:ext uri="{FF2B5EF4-FFF2-40B4-BE49-F238E27FC236}">
                <a16:creationId xmlns:a16="http://schemas.microsoft.com/office/drawing/2014/main" id="{FE5865A7-39A3-46A6-8058-960E7DB49A7A}"/>
              </a:ext>
            </a:extLst>
          </p:cNvPr>
          <p:cNvSpPr>
            <a:spLocks noGrp="1"/>
          </p:cNvSpPr>
          <p:nvPr/>
        </p:nvSpPr>
        <p:spPr>
          <a:xfrm>
            <a:off x="1924050" y="2200275"/>
            <a:ext cx="20859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E86D1"/>
                </a:solidFill>
                <a:latin typeface="Aptos"/>
                <a:ea typeface="Aptos"/>
                <a:cs typeface="Aptos"/>
              </a:rPr>
              <a:t>9.672</a:t>
            </a:r>
          </a:p>
        </p:txBody>
      </p:sp>
      <p:sp>
        <p:nvSpPr>
          <p:cNvPr id="26" name="text-63">
            <a:extLst>
              <a:ext uri="{FF2B5EF4-FFF2-40B4-BE49-F238E27FC236}">
                <a16:creationId xmlns:a16="http://schemas.microsoft.com/office/drawing/2014/main" id="{8C0C9E50-1999-4EC2-A6B0-C44A6A50E974}"/>
              </a:ext>
            </a:extLst>
          </p:cNvPr>
          <p:cNvSpPr>
            <a:spLocks noGrp="1"/>
          </p:cNvSpPr>
          <p:nvPr/>
        </p:nvSpPr>
        <p:spPr>
          <a:xfrm>
            <a:off x="1924050" y="2514600"/>
            <a:ext cx="20859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−4,04 % frente a 2022</a:t>
            </a:r>
          </a:p>
        </p:txBody>
      </p:sp>
      <p:sp>
        <p:nvSpPr>
          <p:cNvPr id="27" name="panel-64">
            <a:extLst>
              <a:ext uri="{FF2B5EF4-FFF2-40B4-BE49-F238E27FC236}">
                <a16:creationId xmlns:a16="http://schemas.microsoft.com/office/drawing/2014/main" id="{5ECA8628-9C37-43D0-83E4-8393B1877F48}"/>
              </a:ext>
            </a:extLst>
          </p:cNvPr>
          <p:cNvSpPr>
            <a:spLocks noGrp="1"/>
          </p:cNvSpPr>
          <p:nvPr/>
        </p:nvSpPr>
        <p:spPr>
          <a:xfrm>
            <a:off x="4343400" y="1876425"/>
            <a:ext cx="2371725" cy="866775"/>
          </a:xfrm>
          <a:prstGeom prst="roundRect">
            <a:avLst>
              <a:gd name="adj" fmla="val 13187"/>
            </a:avLst>
          </a:prstGeom>
          <a:solidFill>
            <a:srgbClr val="E4F4E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-65">
            <a:extLst>
              <a:ext uri="{FF2B5EF4-FFF2-40B4-BE49-F238E27FC236}">
                <a16:creationId xmlns:a16="http://schemas.microsoft.com/office/drawing/2014/main" id="{2F0BCABE-A451-4792-A30D-D42D6D6BB8F5}"/>
              </a:ext>
            </a:extLst>
          </p:cNvPr>
          <p:cNvSpPr>
            <a:spLocks noGrp="1"/>
          </p:cNvSpPr>
          <p:nvPr/>
        </p:nvSpPr>
        <p:spPr>
          <a:xfrm>
            <a:off x="4486275" y="1990725"/>
            <a:ext cx="20859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Mediana registrada</a:t>
            </a:r>
          </a:p>
        </p:txBody>
      </p:sp>
      <p:sp>
        <p:nvSpPr>
          <p:cNvPr id="29" name="text-66">
            <a:extLst>
              <a:ext uri="{FF2B5EF4-FFF2-40B4-BE49-F238E27FC236}">
                <a16:creationId xmlns:a16="http://schemas.microsoft.com/office/drawing/2014/main" id="{7E3C7E71-0EE3-4069-A2B0-72608DD515F6}"/>
              </a:ext>
            </a:extLst>
          </p:cNvPr>
          <p:cNvSpPr>
            <a:spLocks noGrp="1"/>
          </p:cNvSpPr>
          <p:nvPr/>
        </p:nvSpPr>
        <p:spPr>
          <a:xfrm>
            <a:off x="4486275" y="2200275"/>
            <a:ext cx="20859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BB07F"/>
                </a:solidFill>
                <a:latin typeface="Aptos"/>
                <a:ea typeface="Aptos"/>
                <a:cs typeface="Aptos"/>
              </a:rPr>
              <a:t>$108 millones</a:t>
            </a:r>
          </a:p>
        </p:txBody>
      </p:sp>
      <p:sp>
        <p:nvSpPr>
          <p:cNvPr id="30" name="text-67">
            <a:extLst>
              <a:ext uri="{FF2B5EF4-FFF2-40B4-BE49-F238E27FC236}">
                <a16:creationId xmlns:a16="http://schemas.microsoft.com/office/drawing/2014/main" id="{107F11D2-7C55-41CD-93D5-77D5CE435D53}"/>
              </a:ext>
            </a:extLst>
          </p:cNvPr>
          <p:cNvSpPr>
            <a:spLocks noGrp="1"/>
          </p:cNvSpPr>
          <p:nvPr/>
        </p:nvSpPr>
        <p:spPr>
          <a:xfrm>
            <a:off x="4486275" y="2514600"/>
            <a:ext cx="20859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Valor central, no avalúo</a:t>
            </a:r>
          </a:p>
        </p:txBody>
      </p:sp>
      <p:sp>
        <p:nvSpPr>
          <p:cNvPr id="31" name="panel-68">
            <a:extLst>
              <a:ext uri="{FF2B5EF4-FFF2-40B4-BE49-F238E27FC236}">
                <a16:creationId xmlns:a16="http://schemas.microsoft.com/office/drawing/2014/main" id="{5D2F7675-3BB0-4D97-A0E1-167D0C1820CB}"/>
              </a:ext>
            </a:extLst>
          </p:cNvPr>
          <p:cNvSpPr>
            <a:spLocks noGrp="1"/>
          </p:cNvSpPr>
          <p:nvPr/>
        </p:nvSpPr>
        <p:spPr>
          <a:xfrm>
            <a:off x="6905625" y="1876425"/>
            <a:ext cx="2371725" cy="866775"/>
          </a:xfrm>
          <a:prstGeom prst="roundRect">
            <a:avLst>
              <a:gd name="adj" fmla="val 13187"/>
            </a:avLst>
          </a:prstGeom>
          <a:solidFill>
            <a:srgbClr val="FCEBD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-69">
            <a:extLst>
              <a:ext uri="{FF2B5EF4-FFF2-40B4-BE49-F238E27FC236}">
                <a16:creationId xmlns:a16="http://schemas.microsoft.com/office/drawing/2014/main" id="{69F9DF8F-20DD-4BD7-A088-33FDB458E2DB}"/>
              </a:ext>
            </a:extLst>
          </p:cNvPr>
          <p:cNvSpPr>
            <a:spLocks noGrp="1"/>
          </p:cNvSpPr>
          <p:nvPr/>
        </p:nvSpPr>
        <p:spPr>
          <a:xfrm>
            <a:off x="7048500" y="1990725"/>
            <a:ext cx="20859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Mitad central: Q1–Q3</a:t>
            </a:r>
          </a:p>
        </p:txBody>
      </p:sp>
      <p:sp>
        <p:nvSpPr>
          <p:cNvPr id="33" name="text-70">
            <a:extLst>
              <a:ext uri="{FF2B5EF4-FFF2-40B4-BE49-F238E27FC236}">
                <a16:creationId xmlns:a16="http://schemas.microsoft.com/office/drawing/2014/main" id="{1B2626D8-CC03-4116-8B9F-200E47A705C3}"/>
              </a:ext>
            </a:extLst>
          </p:cNvPr>
          <p:cNvSpPr>
            <a:spLocks noGrp="1"/>
          </p:cNvSpPr>
          <p:nvPr/>
        </p:nvSpPr>
        <p:spPr>
          <a:xfrm>
            <a:off x="7048500" y="2200275"/>
            <a:ext cx="20859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8A28"/>
                </a:solidFill>
                <a:latin typeface="Aptos"/>
                <a:ea typeface="Aptos"/>
                <a:cs typeface="Aptos"/>
              </a:rPr>
              <a:t>$52,3–165,5 M</a:t>
            </a:r>
          </a:p>
        </p:txBody>
      </p:sp>
      <p:sp>
        <p:nvSpPr>
          <p:cNvPr id="34" name="text-71">
            <a:extLst>
              <a:ext uri="{FF2B5EF4-FFF2-40B4-BE49-F238E27FC236}">
                <a16:creationId xmlns:a16="http://schemas.microsoft.com/office/drawing/2014/main" id="{0B41467D-61C9-4322-9F6A-AD75BDCC91C9}"/>
              </a:ext>
            </a:extLst>
          </p:cNvPr>
          <p:cNvSpPr>
            <a:spLocks noGrp="1"/>
          </p:cNvSpPr>
          <p:nvPr/>
        </p:nvSpPr>
        <p:spPr>
          <a:xfrm>
            <a:off x="7048500" y="2514600"/>
            <a:ext cx="20859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50 % central de registros</a:t>
            </a:r>
          </a:p>
        </p:txBody>
      </p:sp>
      <p:sp>
        <p:nvSpPr>
          <p:cNvPr id="35" name="panel-72">
            <a:extLst>
              <a:ext uri="{FF2B5EF4-FFF2-40B4-BE49-F238E27FC236}">
                <a16:creationId xmlns:a16="http://schemas.microsoft.com/office/drawing/2014/main" id="{585261E9-9EC1-4ECA-B94C-E306E8110FB7}"/>
              </a:ext>
            </a:extLst>
          </p:cNvPr>
          <p:cNvSpPr>
            <a:spLocks noGrp="1"/>
          </p:cNvSpPr>
          <p:nvPr/>
        </p:nvSpPr>
        <p:spPr>
          <a:xfrm>
            <a:off x="9467850" y="1876425"/>
            <a:ext cx="2371725" cy="866775"/>
          </a:xfrm>
          <a:prstGeom prst="roundRect">
            <a:avLst>
              <a:gd name="adj" fmla="val 13187"/>
            </a:avLst>
          </a:prstGeom>
          <a:solidFill>
            <a:srgbClr val="ECEAFA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-73">
            <a:extLst>
              <a:ext uri="{FF2B5EF4-FFF2-40B4-BE49-F238E27FC236}">
                <a16:creationId xmlns:a16="http://schemas.microsoft.com/office/drawing/2014/main" id="{8D0B36A1-708E-437E-A3CE-2FD99C46B7A9}"/>
              </a:ext>
            </a:extLst>
          </p:cNvPr>
          <p:cNvSpPr>
            <a:spLocks noGrp="1"/>
          </p:cNvSpPr>
          <p:nvPr/>
        </p:nvSpPr>
        <p:spPr>
          <a:xfrm>
            <a:off x="9610725" y="1990725"/>
            <a:ext cx="20859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Cobertura monetaria</a:t>
            </a:r>
          </a:p>
        </p:txBody>
      </p:sp>
      <p:sp>
        <p:nvSpPr>
          <p:cNvPr id="37" name="text-74">
            <a:extLst>
              <a:ext uri="{FF2B5EF4-FFF2-40B4-BE49-F238E27FC236}">
                <a16:creationId xmlns:a16="http://schemas.microsoft.com/office/drawing/2014/main" id="{5A36C47C-3CEB-4D2D-ABB1-E3260B35570F}"/>
              </a:ext>
            </a:extLst>
          </p:cNvPr>
          <p:cNvSpPr>
            <a:spLocks noGrp="1"/>
          </p:cNvSpPr>
          <p:nvPr/>
        </p:nvSpPr>
        <p:spPr>
          <a:xfrm>
            <a:off x="9610725" y="2200275"/>
            <a:ext cx="20859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F63C7"/>
                </a:solidFill>
                <a:latin typeface="Aptos"/>
                <a:ea typeface="Aptos"/>
                <a:cs typeface="Aptos"/>
              </a:rPr>
              <a:t>100,00 %</a:t>
            </a:r>
          </a:p>
        </p:txBody>
      </p:sp>
      <p:sp>
        <p:nvSpPr>
          <p:cNvPr id="38" name="text-75">
            <a:extLst>
              <a:ext uri="{FF2B5EF4-FFF2-40B4-BE49-F238E27FC236}">
                <a16:creationId xmlns:a16="http://schemas.microsoft.com/office/drawing/2014/main" id="{887C2CFC-4645-440A-B9CB-2789C2BC40B0}"/>
              </a:ext>
            </a:extLst>
          </p:cNvPr>
          <p:cNvSpPr>
            <a:spLocks noGrp="1"/>
          </p:cNvSpPr>
          <p:nvPr/>
        </p:nvSpPr>
        <p:spPr>
          <a:xfrm>
            <a:off x="9610725" y="2514600"/>
            <a:ext cx="20859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9.672 / 9.672 en 2023</a:t>
            </a:r>
          </a:p>
        </p:txBody>
      </p:sp>
      <p:sp>
        <p:nvSpPr>
          <p:cNvPr id="39" name="panel-76">
            <a:extLst>
              <a:ext uri="{FF2B5EF4-FFF2-40B4-BE49-F238E27FC236}">
                <a16:creationId xmlns:a16="http://schemas.microsoft.com/office/drawing/2014/main" id="{10B8FEDF-7A6B-41FB-915E-C030FF951C4A}"/>
              </a:ext>
            </a:extLst>
          </p:cNvPr>
          <p:cNvSpPr>
            <a:spLocks noGrp="1"/>
          </p:cNvSpPr>
          <p:nvPr/>
        </p:nvSpPr>
        <p:spPr>
          <a:xfrm>
            <a:off x="1781175" y="2924175"/>
            <a:ext cx="4895850" cy="2219325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-77">
            <a:extLst>
              <a:ext uri="{FF2B5EF4-FFF2-40B4-BE49-F238E27FC236}">
                <a16:creationId xmlns:a16="http://schemas.microsoft.com/office/drawing/2014/main" id="{B8E5AD92-A7D3-4517-A686-562BE8D471E3}"/>
              </a:ext>
            </a:extLst>
          </p:cNvPr>
          <p:cNvSpPr>
            <a:spLocks noGrp="1"/>
          </p:cNvSpPr>
          <p:nvPr/>
        </p:nvSpPr>
        <p:spPr>
          <a:xfrm>
            <a:off x="1943100" y="3067050"/>
            <a:ext cx="457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Actividad histórica · registros</a:t>
            </a:r>
          </a:p>
        </p:txBody>
      </p:sp>
      <p:graphicFrame>
        <p:nvGraphicFramePr>
          <p:cNvPr id="41" name="Chart">
            <a:extLst>
              <a:ext uri="{FF2B5EF4-FFF2-40B4-BE49-F238E27FC236}">
                <a16:creationId xmlns:a16="http://schemas.microsoft.com/office/drawing/2014/main" id="{3C927E89-AFA8-4C12-803E-2FC80ED34418}"/>
              </a:ext>
            </a:extLst>
          </p:cNvPr>
          <p:cNvGraphicFramePr/>
          <p:nvPr/>
        </p:nvGraphicFramePr>
        <p:xfrm>
          <a:off x="1943100" y="3371850"/>
          <a:ext cx="4572000" cy="1571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2" name="panel-78">
            <a:extLst>
              <a:ext uri="{FF2B5EF4-FFF2-40B4-BE49-F238E27FC236}">
                <a16:creationId xmlns:a16="http://schemas.microsoft.com/office/drawing/2014/main" id="{8596C412-CC24-414A-A90E-82CA1FE0471C}"/>
              </a:ext>
            </a:extLst>
          </p:cNvPr>
          <p:cNvSpPr>
            <a:spLocks noGrp="1"/>
          </p:cNvSpPr>
          <p:nvPr/>
        </p:nvSpPr>
        <p:spPr>
          <a:xfrm>
            <a:off x="6905625" y="2924175"/>
            <a:ext cx="4933950" cy="2219325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-79">
            <a:extLst>
              <a:ext uri="{FF2B5EF4-FFF2-40B4-BE49-F238E27FC236}">
                <a16:creationId xmlns:a16="http://schemas.microsoft.com/office/drawing/2014/main" id="{5C380461-0167-4039-83A1-CB928879EFDC}"/>
              </a:ext>
            </a:extLst>
          </p:cNvPr>
          <p:cNvSpPr>
            <a:spLocks noGrp="1"/>
          </p:cNvSpPr>
          <p:nvPr/>
        </p:nvSpPr>
        <p:spPr>
          <a:xfrm>
            <a:off x="7067550" y="3067050"/>
            <a:ext cx="4610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Mediana histórica · millones de COP</a:t>
            </a:r>
          </a:p>
        </p:txBody>
      </p:sp>
      <p:graphicFrame>
        <p:nvGraphicFramePr>
          <p:cNvPr id="44" name="Chart">
            <a:extLst>
              <a:ext uri="{FF2B5EF4-FFF2-40B4-BE49-F238E27FC236}">
                <a16:creationId xmlns:a16="http://schemas.microsoft.com/office/drawing/2014/main" id="{BF52F947-9B3A-41BA-944D-C77E67120016}"/>
              </a:ext>
            </a:extLst>
          </p:cNvPr>
          <p:cNvGraphicFramePr/>
          <p:nvPr/>
        </p:nvGraphicFramePr>
        <p:xfrm>
          <a:off x="7067550" y="3371850"/>
          <a:ext cx="4610100" cy="1571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5" name="panel-80">
            <a:extLst>
              <a:ext uri="{FF2B5EF4-FFF2-40B4-BE49-F238E27FC236}">
                <a16:creationId xmlns:a16="http://schemas.microsoft.com/office/drawing/2014/main" id="{67E1C238-EF04-46FF-BCD1-CDDB99CCC7D9}"/>
              </a:ext>
            </a:extLst>
          </p:cNvPr>
          <p:cNvSpPr>
            <a:spLocks noGrp="1"/>
          </p:cNvSpPr>
          <p:nvPr/>
        </p:nvSpPr>
        <p:spPr>
          <a:xfrm>
            <a:off x="1781175" y="5334000"/>
            <a:ext cx="100584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-81">
            <a:extLst>
              <a:ext uri="{FF2B5EF4-FFF2-40B4-BE49-F238E27FC236}">
                <a16:creationId xmlns:a16="http://schemas.microsoft.com/office/drawing/2014/main" id="{AFA9519C-8CBB-40F1-B197-75D53E24223A}"/>
              </a:ext>
            </a:extLst>
          </p:cNvPr>
          <p:cNvSpPr>
            <a:spLocks noGrp="1"/>
          </p:cNvSpPr>
          <p:nvPr/>
        </p:nvSpPr>
        <p:spPr>
          <a:xfrm>
            <a:off x="1943100" y="5476875"/>
            <a:ext cx="973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¿Qué puedo interpretar?</a:t>
            </a:r>
          </a:p>
        </p:txBody>
      </p:sp>
      <p:sp>
        <p:nvSpPr>
          <p:cNvPr id="47" name="text-82">
            <a:extLst>
              <a:ext uri="{FF2B5EF4-FFF2-40B4-BE49-F238E27FC236}">
                <a16:creationId xmlns:a16="http://schemas.microsoft.com/office/drawing/2014/main" id="{5F502C12-68EC-4D0E-A164-549BF30E1BFC}"/>
              </a:ext>
            </a:extLst>
          </p:cNvPr>
          <p:cNvSpPr>
            <a:spLocks noGrp="1"/>
          </p:cNvSpPr>
          <p:nvPr/>
        </p:nvSpPr>
        <p:spPr>
          <a:xfrm>
            <a:off x="1971675" y="5734050"/>
            <a:ext cx="96012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Armenia reúne el 43,46 % de los registros seleccionados de 2023. Su actividad cae 4,04 % frente a 2022.</a:t>
            </a:r>
          </a:p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El rango central muestra dispersión de montos; no permite comparar inmuebles equivalentes sin área, ubicación y estado.</a:t>
            </a:r>
          </a:p>
        </p:txBody>
      </p:sp>
    </p:spTree>
    <p:extLst>
      <p:ext uri="{BB962C8B-B14F-4D97-AF65-F5344CB8AC3E}">
        <p14:creationId xmlns:p14="http://schemas.microsoft.com/office/powerpoint/2010/main" val="806740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A3DA8F2-7E80-43DE-AAC5-8A88F9EC9F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4F407D-A2E5-4A50-845B-6EE2730B0AF8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372D936-2406-4C3B-877C-FEAAEF11D5FD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text-83">
            <a:extLst>
              <a:ext uri="{FF2B5EF4-FFF2-40B4-BE49-F238E27FC236}">
                <a16:creationId xmlns:a16="http://schemas.microsoft.com/office/drawing/2014/main" id="{F47D5DA9-BB6A-43F2-A77B-68A6BCC8DAD8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6" name="text-84">
            <a:extLst>
              <a:ext uri="{FF2B5EF4-FFF2-40B4-BE49-F238E27FC236}">
                <a16:creationId xmlns:a16="http://schemas.microsoft.com/office/drawing/2014/main" id="{B05ABFF0-7C3B-486F-AC61-C9359D995F6B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7" name="panel-85">
            <a:extLst>
              <a:ext uri="{FF2B5EF4-FFF2-40B4-BE49-F238E27FC236}">
                <a16:creationId xmlns:a16="http://schemas.microsoft.com/office/drawing/2014/main" id="{70DE95ED-979B-449C-BEE9-385D8ECF6C39}"/>
              </a:ext>
            </a:extLst>
          </p:cNvPr>
          <p:cNvSpPr>
            <a:spLocks noGrp="1"/>
          </p:cNvSpPr>
          <p:nvPr/>
        </p:nvSpPr>
        <p:spPr>
          <a:xfrm>
            <a:off x="104775" y="2057400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-86">
            <a:extLst>
              <a:ext uri="{FF2B5EF4-FFF2-40B4-BE49-F238E27FC236}">
                <a16:creationId xmlns:a16="http://schemas.microsoft.com/office/drawing/2014/main" id="{EF9857E9-E74E-4EC2-A057-AD95BED9298E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9" name="text-87">
            <a:extLst>
              <a:ext uri="{FF2B5EF4-FFF2-40B4-BE49-F238E27FC236}">
                <a16:creationId xmlns:a16="http://schemas.microsoft.com/office/drawing/2014/main" id="{EC7918CD-78A9-4770-AE1E-30D50E573D37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10" name="text-88">
            <a:extLst>
              <a:ext uri="{FF2B5EF4-FFF2-40B4-BE49-F238E27FC236}">
                <a16:creationId xmlns:a16="http://schemas.microsoft.com/office/drawing/2014/main" id="{B6519068-355F-49EE-B720-3FA8D45E393D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1" name="text-89">
            <a:extLst>
              <a:ext uri="{FF2B5EF4-FFF2-40B4-BE49-F238E27FC236}">
                <a16:creationId xmlns:a16="http://schemas.microsoft.com/office/drawing/2014/main" id="{AEF3D049-5FBC-43F7-A855-5C7D665D6B26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2" name="text-90">
            <a:extLst>
              <a:ext uri="{FF2B5EF4-FFF2-40B4-BE49-F238E27FC236}">
                <a16:creationId xmlns:a16="http://schemas.microsoft.com/office/drawing/2014/main" id="{2B2B2D9E-E5DA-48BE-ACA7-5427692F86F4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91">
            <a:extLst>
              <a:ext uri="{FF2B5EF4-FFF2-40B4-BE49-F238E27FC236}">
                <a16:creationId xmlns:a16="http://schemas.microsoft.com/office/drawing/2014/main" id="{88716F0F-4102-4F85-8EC1-C03B68173255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5" name="text-93">
            <a:extLst>
              <a:ext uri="{FF2B5EF4-FFF2-40B4-BE49-F238E27FC236}">
                <a16:creationId xmlns:a16="http://schemas.microsoft.com/office/drawing/2014/main" id="{18A6EBD2-7A9D-4FD1-9E87-CE5B09C52E21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Comparación de municipios</a:t>
            </a:r>
          </a:p>
        </p:txBody>
      </p:sp>
      <p:sp>
        <p:nvSpPr>
          <p:cNvPr id="16" name="text-94">
            <a:extLst>
              <a:ext uri="{FF2B5EF4-FFF2-40B4-BE49-F238E27FC236}">
                <a16:creationId xmlns:a16="http://schemas.microsoft.com/office/drawing/2014/main" id="{CB1FA060-0D7A-42D4-BBBB-0B04AD219423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Cinco preguntas del inversionista, respondidas con indicadores comparables.</a:t>
            </a:r>
          </a:p>
        </p:txBody>
      </p:sp>
      <p:sp>
        <p:nvSpPr>
          <p:cNvPr id="17" name="panel-95">
            <a:extLst>
              <a:ext uri="{FF2B5EF4-FFF2-40B4-BE49-F238E27FC236}">
                <a16:creationId xmlns:a16="http://schemas.microsoft.com/office/drawing/2014/main" id="{7C02F25B-FA17-42E3-9D71-60C56132E4E0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10058400" cy="54292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-96">
            <a:extLst>
              <a:ext uri="{FF2B5EF4-FFF2-40B4-BE49-F238E27FC236}">
                <a16:creationId xmlns:a16="http://schemas.microsoft.com/office/drawing/2014/main" id="{3A784915-8DCB-45DA-8D9D-23B9D123F91C}"/>
              </a:ext>
            </a:extLst>
          </p:cNvPr>
          <p:cNvSpPr>
            <a:spLocks noGrp="1"/>
          </p:cNvSpPr>
          <p:nvPr/>
        </p:nvSpPr>
        <p:spPr>
          <a:xfrm>
            <a:off x="1971675" y="1343025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Año: 2023   |   Armenia · Manizales · Pereira   |   COMPRAVENTA y URBANO</a:t>
            </a:r>
          </a:p>
        </p:txBody>
      </p:sp>
      <p:sp>
        <p:nvSpPr>
          <p:cNvPr id="19" name="panel-97">
            <a:extLst>
              <a:ext uri="{FF2B5EF4-FFF2-40B4-BE49-F238E27FC236}">
                <a16:creationId xmlns:a16="http://schemas.microsoft.com/office/drawing/2014/main" id="{B73303FA-A27F-4C06-B914-BD9A5F2E4068}"/>
              </a:ext>
            </a:extLst>
          </p:cNvPr>
          <p:cNvSpPr>
            <a:spLocks noGrp="1"/>
          </p:cNvSpPr>
          <p:nvPr/>
        </p:nvSpPr>
        <p:spPr>
          <a:xfrm>
            <a:off x="10201275" y="1266825"/>
            <a:ext cx="1457325" cy="314325"/>
          </a:xfrm>
          <a:prstGeom prst="roundRect">
            <a:avLst>
              <a:gd name="adj" fmla="val 18182"/>
            </a:avLst>
          </a:prstGeom>
          <a:solidFill>
            <a:srgbClr val="2E86D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-98">
            <a:extLst>
              <a:ext uri="{FF2B5EF4-FFF2-40B4-BE49-F238E27FC236}">
                <a16:creationId xmlns:a16="http://schemas.microsoft.com/office/drawing/2014/main" id="{10F1B1E8-F664-4378-9624-D409685164FB}"/>
              </a:ext>
            </a:extLst>
          </p:cNvPr>
          <p:cNvSpPr>
            <a:spLocks noGrp="1"/>
          </p:cNvSpPr>
          <p:nvPr/>
        </p:nvSpPr>
        <p:spPr>
          <a:xfrm>
            <a:off x="10277475" y="1343025"/>
            <a:ext cx="13049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 COMPARACIÓN</a:t>
            </a:r>
          </a:p>
        </p:txBody>
      </p:sp>
      <p:sp>
        <p:nvSpPr>
          <p:cNvPr id="21" name="text-99">
            <a:extLst>
              <a:ext uri="{FF2B5EF4-FFF2-40B4-BE49-F238E27FC236}">
                <a16:creationId xmlns:a16="http://schemas.microsoft.com/office/drawing/2014/main" id="{CF68429F-3077-4F11-83F3-5A5223863629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22" name="text-100">
            <a:extLst>
              <a:ext uri="{FF2B5EF4-FFF2-40B4-BE49-F238E27FC236}">
                <a16:creationId xmlns:a16="http://schemas.microsoft.com/office/drawing/2014/main" id="{DF5A4309-AEAB-496F-9C71-73BA59D55D62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03 / 08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76DFAFC7-7638-465B-B305-AD9E5B5FA708}"/>
              </a:ext>
            </a:extLst>
          </p:cNvPr>
          <p:cNvGraphicFramePr/>
          <p:nvPr/>
        </p:nvGraphicFramePr>
        <p:xfrm>
          <a:off x="1781175" y="1895475"/>
          <a:ext cx="10058400" cy="3590928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4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Indicador · año 2023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Armenia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Manizales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Pereira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Registros seleccionados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9.672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6.362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6.223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Participación entre los tres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43,46 %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28,58 %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27,96 %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Cambio frente a 2022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-4,04 %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-25,86 %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-15,62 %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Mediana registrada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$108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$135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$123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Q1: 25 % registra hasta…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$52,27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$35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$35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Q3: 75 % registra hasta…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$165,5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$192,57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$200 millones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86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Cobertura monetaria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100,00 %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99,97 %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99,58 %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panel-101">
            <a:extLst>
              <a:ext uri="{FF2B5EF4-FFF2-40B4-BE49-F238E27FC236}">
                <a16:creationId xmlns:a16="http://schemas.microsoft.com/office/drawing/2014/main" id="{64971E69-651C-4FEC-9D85-DB001E1508BC}"/>
              </a:ext>
            </a:extLst>
          </p:cNvPr>
          <p:cNvSpPr>
            <a:spLocks noGrp="1"/>
          </p:cNvSpPr>
          <p:nvPr/>
        </p:nvSpPr>
        <p:spPr>
          <a:xfrm>
            <a:off x="1781175" y="5667375"/>
            <a:ext cx="10058400" cy="723900"/>
          </a:xfrm>
          <a:prstGeom prst="roundRect">
            <a:avLst>
              <a:gd name="adj" fmla="val 15789"/>
            </a:avLst>
          </a:prstGeom>
          <a:solidFill>
            <a:srgbClr val="ECEAFA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-102">
            <a:extLst>
              <a:ext uri="{FF2B5EF4-FFF2-40B4-BE49-F238E27FC236}">
                <a16:creationId xmlns:a16="http://schemas.microsoft.com/office/drawing/2014/main" id="{D851594F-5B3B-438D-8D62-C058E68BB6E6}"/>
              </a:ext>
            </a:extLst>
          </p:cNvPr>
          <p:cNvSpPr>
            <a:spLocks noGrp="1"/>
          </p:cNvSpPr>
          <p:nvPr/>
        </p:nvSpPr>
        <p:spPr>
          <a:xfrm>
            <a:off x="1952625" y="5781675"/>
            <a:ext cx="95250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63C7"/>
                </a:solidFill>
                <a:latin typeface="Aptos"/>
                <a:ea typeface="Aptos"/>
                <a:cs typeface="Aptos"/>
              </a:rPr>
              <a:t>¿Cómo usar esta comparación?</a:t>
            </a:r>
          </a:p>
        </p:txBody>
      </p:sp>
    </p:spTree>
    <p:extLst>
      <p:ext uri="{BB962C8B-B14F-4D97-AF65-F5344CB8AC3E}">
        <p14:creationId xmlns:p14="http://schemas.microsoft.com/office/powerpoint/2010/main" val="769954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CA4CC3A-3617-47A8-A167-0DCB77794D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F193BE-C108-44CB-8274-E00309E7007A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639FF8-4968-440F-BB6D-F6530204625D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text-104">
            <a:extLst>
              <a:ext uri="{FF2B5EF4-FFF2-40B4-BE49-F238E27FC236}">
                <a16:creationId xmlns:a16="http://schemas.microsoft.com/office/drawing/2014/main" id="{FA3C3F5E-B58E-47DC-9742-63D495A29AB5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6" name="text-105">
            <a:extLst>
              <a:ext uri="{FF2B5EF4-FFF2-40B4-BE49-F238E27FC236}">
                <a16:creationId xmlns:a16="http://schemas.microsoft.com/office/drawing/2014/main" id="{4222BFB1-1FC8-40ED-B60F-87D4C40E6F41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7" name="text-106">
            <a:extLst>
              <a:ext uri="{FF2B5EF4-FFF2-40B4-BE49-F238E27FC236}">
                <a16:creationId xmlns:a16="http://schemas.microsoft.com/office/drawing/2014/main" id="{D8ACB31C-E49F-4D25-8A6B-80408B727F85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8" name="panel-107">
            <a:extLst>
              <a:ext uri="{FF2B5EF4-FFF2-40B4-BE49-F238E27FC236}">
                <a16:creationId xmlns:a16="http://schemas.microsoft.com/office/drawing/2014/main" id="{4281241D-8059-4527-B2EA-9920E74084D6}"/>
              </a:ext>
            </a:extLst>
          </p:cNvPr>
          <p:cNvSpPr>
            <a:spLocks noGrp="1"/>
          </p:cNvSpPr>
          <p:nvPr/>
        </p:nvSpPr>
        <p:spPr>
          <a:xfrm>
            <a:off x="104775" y="2562225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-108">
            <a:extLst>
              <a:ext uri="{FF2B5EF4-FFF2-40B4-BE49-F238E27FC236}">
                <a16:creationId xmlns:a16="http://schemas.microsoft.com/office/drawing/2014/main" id="{912B5F3B-5E1B-4732-AADF-44F9604B70F7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10" name="text-109">
            <a:extLst>
              <a:ext uri="{FF2B5EF4-FFF2-40B4-BE49-F238E27FC236}">
                <a16:creationId xmlns:a16="http://schemas.microsoft.com/office/drawing/2014/main" id="{A59D75ED-5078-45BC-9C19-0CBA93CEFD32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1" name="text-110">
            <a:extLst>
              <a:ext uri="{FF2B5EF4-FFF2-40B4-BE49-F238E27FC236}">
                <a16:creationId xmlns:a16="http://schemas.microsoft.com/office/drawing/2014/main" id="{BEC2EC79-A411-48D0-ABC5-60EA6FBFDBAE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2" name="text-111">
            <a:extLst>
              <a:ext uri="{FF2B5EF4-FFF2-40B4-BE49-F238E27FC236}">
                <a16:creationId xmlns:a16="http://schemas.microsoft.com/office/drawing/2014/main" id="{CF1F9967-4500-41EA-99B3-CBF83631EADB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112">
            <a:extLst>
              <a:ext uri="{FF2B5EF4-FFF2-40B4-BE49-F238E27FC236}">
                <a16:creationId xmlns:a16="http://schemas.microsoft.com/office/drawing/2014/main" id="{7D4CA811-2962-4A64-BFD5-D3C87B3A1F4E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5" name="text-114">
            <a:extLst>
              <a:ext uri="{FF2B5EF4-FFF2-40B4-BE49-F238E27FC236}">
                <a16:creationId xmlns:a16="http://schemas.microsoft.com/office/drawing/2014/main" id="{AD095F0D-7B35-4B5A-BF37-EF2C2FD34E2C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Cobertura y calidad de los datos</a:t>
            </a:r>
          </a:p>
        </p:txBody>
      </p:sp>
      <p:sp>
        <p:nvSpPr>
          <p:cNvPr id="16" name="text-115">
            <a:extLst>
              <a:ext uri="{FF2B5EF4-FFF2-40B4-BE49-F238E27FC236}">
                <a16:creationId xmlns:a16="http://schemas.microsoft.com/office/drawing/2014/main" id="{A5668A4B-D217-43B0-ABED-CC52ACE5DB32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¿Cuánta información se conserva para analizar los valores?</a:t>
            </a:r>
          </a:p>
        </p:txBody>
      </p:sp>
      <p:sp>
        <p:nvSpPr>
          <p:cNvPr id="17" name="text-116">
            <a:extLst>
              <a:ext uri="{FF2B5EF4-FFF2-40B4-BE49-F238E27FC236}">
                <a16:creationId xmlns:a16="http://schemas.microsoft.com/office/drawing/2014/main" id="{0686D8D3-7AA8-4022-8F3D-20B582454BF7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18" name="text-117">
            <a:extLst>
              <a:ext uri="{FF2B5EF4-FFF2-40B4-BE49-F238E27FC236}">
                <a16:creationId xmlns:a16="http://schemas.microsoft.com/office/drawing/2014/main" id="{551E7CAC-F83E-41C3-8434-6F0A7742AB64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04 / 08</a:t>
            </a:r>
          </a:p>
        </p:txBody>
      </p:sp>
      <p:sp>
        <p:nvSpPr>
          <p:cNvPr id="19" name="panel-118">
            <a:extLst>
              <a:ext uri="{FF2B5EF4-FFF2-40B4-BE49-F238E27FC236}">
                <a16:creationId xmlns:a16="http://schemas.microsoft.com/office/drawing/2014/main" id="{90983A0B-630C-4D44-B119-0575004E7E59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100584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-119">
            <a:extLst>
              <a:ext uri="{FF2B5EF4-FFF2-40B4-BE49-F238E27FC236}">
                <a16:creationId xmlns:a16="http://schemas.microsoft.com/office/drawing/2014/main" id="{B88BB39F-5358-4327-87E4-9EB366199D08}"/>
              </a:ext>
            </a:extLst>
          </p:cNvPr>
          <p:cNvSpPr>
            <a:spLocks noGrp="1"/>
          </p:cNvSpPr>
          <p:nvPr/>
        </p:nvSpPr>
        <p:spPr>
          <a:xfrm>
            <a:off x="1971675" y="1314450"/>
            <a:ext cx="9620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Periodo de cobertura: 2015–2023   |   Los tres municipios   |   COMPRAVENTA y URBANO</a:t>
            </a:r>
          </a:p>
        </p:txBody>
      </p:sp>
      <p:sp>
        <p:nvSpPr>
          <p:cNvPr id="21" name="panel-120">
            <a:extLst>
              <a:ext uri="{FF2B5EF4-FFF2-40B4-BE49-F238E27FC236}">
                <a16:creationId xmlns:a16="http://schemas.microsoft.com/office/drawing/2014/main" id="{7CB003CC-1CF9-4175-88A2-C4E2D2B4001C}"/>
              </a:ext>
            </a:extLst>
          </p:cNvPr>
          <p:cNvSpPr>
            <a:spLocks noGrp="1"/>
          </p:cNvSpPr>
          <p:nvPr/>
        </p:nvSpPr>
        <p:spPr>
          <a:xfrm>
            <a:off x="1781175" y="1800225"/>
            <a:ext cx="3219450" cy="866775"/>
          </a:xfrm>
          <a:prstGeom prst="roundRect">
            <a:avLst>
              <a:gd name="adj" fmla="val 13187"/>
            </a:avLst>
          </a:prstGeom>
          <a:solidFill>
            <a:srgbClr val="E5F1FB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-121">
            <a:extLst>
              <a:ext uri="{FF2B5EF4-FFF2-40B4-BE49-F238E27FC236}">
                <a16:creationId xmlns:a16="http://schemas.microsoft.com/office/drawing/2014/main" id="{7F3359BF-9DF5-4937-80B4-3C62F1355A14}"/>
              </a:ext>
            </a:extLst>
          </p:cNvPr>
          <p:cNvSpPr>
            <a:spLocks noGrp="1"/>
          </p:cNvSpPr>
          <p:nvPr/>
        </p:nvSpPr>
        <p:spPr>
          <a:xfrm>
            <a:off x="1924050" y="1914525"/>
            <a:ext cx="29337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Universo consultado</a:t>
            </a:r>
          </a:p>
        </p:txBody>
      </p:sp>
      <p:sp>
        <p:nvSpPr>
          <p:cNvPr id="23" name="text-122">
            <a:extLst>
              <a:ext uri="{FF2B5EF4-FFF2-40B4-BE49-F238E27FC236}">
                <a16:creationId xmlns:a16="http://schemas.microsoft.com/office/drawing/2014/main" id="{A5413F16-295C-4BF5-9686-577CDDAF03BC}"/>
              </a:ext>
            </a:extLst>
          </p:cNvPr>
          <p:cNvSpPr>
            <a:spLocks noGrp="1"/>
          </p:cNvSpPr>
          <p:nvPr/>
        </p:nvSpPr>
        <p:spPr>
          <a:xfrm>
            <a:off x="1924050" y="2124075"/>
            <a:ext cx="293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2E86D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E86D1"/>
                </a:solidFill>
                <a:latin typeface="Aptos"/>
                <a:ea typeface="Aptos"/>
                <a:cs typeface="Aptos"/>
              </a:rPr>
              <a:t>214.190</a:t>
            </a:r>
          </a:p>
        </p:txBody>
      </p:sp>
      <p:sp>
        <p:nvSpPr>
          <p:cNvPr id="24" name="text-123">
            <a:extLst>
              <a:ext uri="{FF2B5EF4-FFF2-40B4-BE49-F238E27FC236}">
                <a16:creationId xmlns:a16="http://schemas.microsoft.com/office/drawing/2014/main" id="{839F824D-2634-4544-8238-4D51272424B7}"/>
              </a:ext>
            </a:extLst>
          </p:cNvPr>
          <p:cNvSpPr>
            <a:spLocks noGrp="1"/>
          </p:cNvSpPr>
          <p:nvPr/>
        </p:nvSpPr>
        <p:spPr>
          <a:xfrm>
            <a:off x="1924050" y="2438400"/>
            <a:ext cx="2933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Antes de aplicar filtros monetarios</a:t>
            </a:r>
          </a:p>
        </p:txBody>
      </p:sp>
      <p:sp>
        <p:nvSpPr>
          <p:cNvPr id="25" name="panel-124">
            <a:extLst>
              <a:ext uri="{FF2B5EF4-FFF2-40B4-BE49-F238E27FC236}">
                <a16:creationId xmlns:a16="http://schemas.microsoft.com/office/drawing/2014/main" id="{0C3F0C52-F33D-4C88-BB83-AC8DC8BCA4D0}"/>
              </a:ext>
            </a:extLst>
          </p:cNvPr>
          <p:cNvSpPr>
            <a:spLocks noGrp="1"/>
          </p:cNvSpPr>
          <p:nvPr/>
        </p:nvSpPr>
        <p:spPr>
          <a:xfrm>
            <a:off x="5200650" y="1800225"/>
            <a:ext cx="3219450" cy="866775"/>
          </a:xfrm>
          <a:prstGeom prst="roundRect">
            <a:avLst>
              <a:gd name="adj" fmla="val 13187"/>
            </a:avLst>
          </a:prstGeom>
          <a:solidFill>
            <a:srgbClr val="E4F4E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-125">
            <a:extLst>
              <a:ext uri="{FF2B5EF4-FFF2-40B4-BE49-F238E27FC236}">
                <a16:creationId xmlns:a16="http://schemas.microsoft.com/office/drawing/2014/main" id="{47DFDF2E-F105-45FC-BA55-2D8DD6600EE3}"/>
              </a:ext>
            </a:extLst>
          </p:cNvPr>
          <p:cNvSpPr>
            <a:spLocks noGrp="1"/>
          </p:cNvSpPr>
          <p:nvPr/>
        </p:nvSpPr>
        <p:spPr>
          <a:xfrm>
            <a:off x="5343525" y="1914525"/>
            <a:ext cx="29337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Registros monetarios</a:t>
            </a:r>
          </a:p>
        </p:txBody>
      </p:sp>
      <p:sp>
        <p:nvSpPr>
          <p:cNvPr id="27" name="text-126">
            <a:extLst>
              <a:ext uri="{FF2B5EF4-FFF2-40B4-BE49-F238E27FC236}">
                <a16:creationId xmlns:a16="http://schemas.microsoft.com/office/drawing/2014/main" id="{D0AC6431-D2A1-4BAA-A449-9BE105E23507}"/>
              </a:ext>
            </a:extLst>
          </p:cNvPr>
          <p:cNvSpPr>
            <a:spLocks noGrp="1"/>
          </p:cNvSpPr>
          <p:nvPr/>
        </p:nvSpPr>
        <p:spPr>
          <a:xfrm>
            <a:off x="5343525" y="2124075"/>
            <a:ext cx="293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2BB07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BB07F"/>
                </a:solidFill>
                <a:latin typeface="Aptos"/>
                <a:ea typeface="Aptos"/>
                <a:cs typeface="Aptos"/>
              </a:rPr>
              <a:t>214.036</a:t>
            </a:r>
          </a:p>
        </p:txBody>
      </p:sp>
      <p:sp>
        <p:nvSpPr>
          <p:cNvPr id="28" name="text-127">
            <a:extLst>
              <a:ext uri="{FF2B5EF4-FFF2-40B4-BE49-F238E27FC236}">
                <a16:creationId xmlns:a16="http://schemas.microsoft.com/office/drawing/2014/main" id="{4FB76395-2C3A-45CB-80AA-C09731B719A2}"/>
              </a:ext>
            </a:extLst>
          </p:cNvPr>
          <p:cNvSpPr>
            <a:spLocks noGrp="1"/>
          </p:cNvSpPr>
          <p:nvPr/>
        </p:nvSpPr>
        <p:spPr>
          <a:xfrm>
            <a:off x="5343525" y="2438400"/>
            <a:ext cx="2933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Valor &gt; 0 y múltiples valores = 0</a:t>
            </a:r>
          </a:p>
        </p:txBody>
      </p:sp>
      <p:sp>
        <p:nvSpPr>
          <p:cNvPr id="29" name="panel-128">
            <a:extLst>
              <a:ext uri="{FF2B5EF4-FFF2-40B4-BE49-F238E27FC236}">
                <a16:creationId xmlns:a16="http://schemas.microsoft.com/office/drawing/2014/main" id="{824F4164-1532-4F34-8567-4796E44249B0}"/>
              </a:ext>
            </a:extLst>
          </p:cNvPr>
          <p:cNvSpPr>
            <a:spLocks noGrp="1"/>
          </p:cNvSpPr>
          <p:nvPr/>
        </p:nvSpPr>
        <p:spPr>
          <a:xfrm>
            <a:off x="8620125" y="1800225"/>
            <a:ext cx="3219450" cy="866775"/>
          </a:xfrm>
          <a:prstGeom prst="roundRect">
            <a:avLst>
              <a:gd name="adj" fmla="val 13187"/>
            </a:avLst>
          </a:prstGeom>
          <a:solidFill>
            <a:srgbClr val="FCEBD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-129">
            <a:extLst>
              <a:ext uri="{FF2B5EF4-FFF2-40B4-BE49-F238E27FC236}">
                <a16:creationId xmlns:a16="http://schemas.microsoft.com/office/drawing/2014/main" id="{E1305219-5205-4FF9-A0A6-6A20FF1C6B4D}"/>
              </a:ext>
            </a:extLst>
          </p:cNvPr>
          <p:cNvSpPr>
            <a:spLocks noGrp="1"/>
          </p:cNvSpPr>
          <p:nvPr/>
        </p:nvSpPr>
        <p:spPr>
          <a:xfrm>
            <a:off x="8763000" y="1914525"/>
            <a:ext cx="29337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9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Cobertura monetaria</a:t>
            </a:r>
          </a:p>
        </p:txBody>
      </p:sp>
      <p:sp>
        <p:nvSpPr>
          <p:cNvPr id="31" name="text-130">
            <a:extLst>
              <a:ext uri="{FF2B5EF4-FFF2-40B4-BE49-F238E27FC236}">
                <a16:creationId xmlns:a16="http://schemas.microsoft.com/office/drawing/2014/main" id="{F44BD8E7-77E4-446D-BCA8-6F55F826BD42}"/>
              </a:ext>
            </a:extLst>
          </p:cNvPr>
          <p:cNvSpPr>
            <a:spLocks noGrp="1"/>
          </p:cNvSpPr>
          <p:nvPr/>
        </p:nvSpPr>
        <p:spPr>
          <a:xfrm>
            <a:off x="8763000" y="2124075"/>
            <a:ext cx="293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1">
                <a:solidFill>
                  <a:srgbClr val="FF8A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8A28"/>
                </a:solidFill>
                <a:latin typeface="Aptos"/>
                <a:ea typeface="Aptos"/>
                <a:cs typeface="Aptos"/>
              </a:rPr>
              <a:t>99,93 %</a:t>
            </a:r>
          </a:p>
        </p:txBody>
      </p:sp>
      <p:sp>
        <p:nvSpPr>
          <p:cNvPr id="32" name="text-131">
            <a:extLst>
              <a:ext uri="{FF2B5EF4-FFF2-40B4-BE49-F238E27FC236}">
                <a16:creationId xmlns:a16="http://schemas.microsoft.com/office/drawing/2014/main" id="{B53FD06E-4E94-4F3E-850D-F6D68F28650D}"/>
              </a:ext>
            </a:extLst>
          </p:cNvPr>
          <p:cNvSpPr>
            <a:spLocks noGrp="1"/>
          </p:cNvSpPr>
          <p:nvPr/>
        </p:nvSpPr>
        <p:spPr>
          <a:xfrm>
            <a:off x="8763000" y="2438400"/>
            <a:ext cx="2933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154 registros excluidos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8B53AD8E-FAA2-4534-AC54-D2B6DA99B1F8}"/>
              </a:ext>
            </a:extLst>
          </p:cNvPr>
          <p:cNvGraphicFramePr/>
          <p:nvPr/>
        </p:nvGraphicFramePr>
        <p:xfrm>
          <a:off x="1781175" y="2876550"/>
          <a:ext cx="10058400" cy="2305050"/>
        </p:xfrm>
        <a:graphic>
          <a:graphicData uri="http://schemas.openxmlformats.org/drawingml/2006/table">
            <a:tbl>
              <a:tblPr/>
              <a:tblGrid>
                <a:gridCol w="257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4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10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Municipio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Universo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Conservados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Excluidos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Cobertura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0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Armenia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86.565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86.560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99,99 %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10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Manizales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66.313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66.295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18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99,97 %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0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Pereira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61.312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61.181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131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99,79 %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0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Total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214.190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214.036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154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99,93 %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46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49D38C-3B1C-482B-A0DC-4807F374FB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21A816-B876-45A9-95B3-93AEF4C23048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5BAF6F7-78E4-4491-8A49-FDF0800B5D3E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text-135">
            <a:extLst>
              <a:ext uri="{FF2B5EF4-FFF2-40B4-BE49-F238E27FC236}">
                <a16:creationId xmlns:a16="http://schemas.microsoft.com/office/drawing/2014/main" id="{B7F15778-0A8B-4511-917D-EE9628369204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6" name="text-136">
            <a:extLst>
              <a:ext uri="{FF2B5EF4-FFF2-40B4-BE49-F238E27FC236}">
                <a16:creationId xmlns:a16="http://schemas.microsoft.com/office/drawing/2014/main" id="{B6910D00-69AF-43D3-88C8-319F738D7DAB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7" name="text-137">
            <a:extLst>
              <a:ext uri="{FF2B5EF4-FFF2-40B4-BE49-F238E27FC236}">
                <a16:creationId xmlns:a16="http://schemas.microsoft.com/office/drawing/2014/main" id="{28B04310-8C06-4A27-9414-3C7C26E2E77B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8" name="text-138">
            <a:extLst>
              <a:ext uri="{FF2B5EF4-FFF2-40B4-BE49-F238E27FC236}">
                <a16:creationId xmlns:a16="http://schemas.microsoft.com/office/drawing/2014/main" id="{F1787C97-EC63-43D9-8B6A-6CABE0F69FC0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9" name="panel-139">
            <a:extLst>
              <a:ext uri="{FF2B5EF4-FFF2-40B4-BE49-F238E27FC236}">
                <a16:creationId xmlns:a16="http://schemas.microsoft.com/office/drawing/2014/main" id="{DC8261BF-6519-4EF1-A8AF-B1CC8EF1C339}"/>
              </a:ext>
            </a:extLst>
          </p:cNvPr>
          <p:cNvSpPr>
            <a:spLocks noGrp="1"/>
          </p:cNvSpPr>
          <p:nvPr/>
        </p:nvSpPr>
        <p:spPr>
          <a:xfrm>
            <a:off x="104775" y="3067050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-140">
            <a:extLst>
              <a:ext uri="{FF2B5EF4-FFF2-40B4-BE49-F238E27FC236}">
                <a16:creationId xmlns:a16="http://schemas.microsoft.com/office/drawing/2014/main" id="{EDF4CA84-660B-4C29-9FAC-561EF4AD35D2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1" name="text-141">
            <a:extLst>
              <a:ext uri="{FF2B5EF4-FFF2-40B4-BE49-F238E27FC236}">
                <a16:creationId xmlns:a16="http://schemas.microsoft.com/office/drawing/2014/main" id="{C3E5205F-C324-48AF-9757-F3EF42E8D083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2" name="text-142">
            <a:extLst>
              <a:ext uri="{FF2B5EF4-FFF2-40B4-BE49-F238E27FC236}">
                <a16:creationId xmlns:a16="http://schemas.microsoft.com/office/drawing/2014/main" id="{B4565E62-9533-4D01-A6FB-7966B433C453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143">
            <a:extLst>
              <a:ext uri="{FF2B5EF4-FFF2-40B4-BE49-F238E27FC236}">
                <a16:creationId xmlns:a16="http://schemas.microsoft.com/office/drawing/2014/main" id="{E1338FA2-9696-4D48-93C8-48491ABD9F90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5" name="text-145">
            <a:extLst>
              <a:ext uri="{FF2B5EF4-FFF2-40B4-BE49-F238E27FC236}">
                <a16:creationId xmlns:a16="http://schemas.microsoft.com/office/drawing/2014/main" id="{DC1DB3F9-1BEB-407F-9B22-BBB1E5AA2CBF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Operaciones para revisión</a:t>
            </a:r>
          </a:p>
        </p:txBody>
      </p:sp>
      <p:sp>
        <p:nvSpPr>
          <p:cNvPr id="16" name="text-146">
            <a:extLst>
              <a:ext uri="{FF2B5EF4-FFF2-40B4-BE49-F238E27FC236}">
                <a16:creationId xmlns:a16="http://schemas.microsoft.com/office/drawing/2014/main" id="{CEB8F65C-1FF3-434F-84EC-A3EF8ED31706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Diseño previsto para explicar las alertas sin presentarlas como irregularidades.</a:t>
            </a:r>
          </a:p>
        </p:txBody>
      </p:sp>
      <p:sp>
        <p:nvSpPr>
          <p:cNvPr id="17" name="text-147">
            <a:extLst>
              <a:ext uri="{FF2B5EF4-FFF2-40B4-BE49-F238E27FC236}">
                <a16:creationId xmlns:a16="http://schemas.microsoft.com/office/drawing/2014/main" id="{3EFF0F95-EA82-4841-98EB-F4652265ED12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18" name="text-148">
            <a:extLst>
              <a:ext uri="{FF2B5EF4-FFF2-40B4-BE49-F238E27FC236}">
                <a16:creationId xmlns:a16="http://schemas.microsoft.com/office/drawing/2014/main" id="{A9EFFC7C-7687-4641-A747-C0BAE0031F5F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05 / 08</a:t>
            </a:r>
          </a:p>
        </p:txBody>
      </p:sp>
      <p:sp>
        <p:nvSpPr>
          <p:cNvPr id="19" name="panel-149">
            <a:extLst>
              <a:ext uri="{FF2B5EF4-FFF2-40B4-BE49-F238E27FC236}">
                <a16:creationId xmlns:a16="http://schemas.microsoft.com/office/drawing/2014/main" id="{3D79440C-8B59-4DF9-BB7A-C1194431EDB1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10058400" cy="457200"/>
          </a:xfrm>
          <a:prstGeom prst="roundRect">
            <a:avLst>
              <a:gd name="adj" fmla="val 25000"/>
            </a:avLst>
          </a:prstGeom>
          <a:solidFill>
            <a:srgbClr val="FCEBDD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panel-151">
            <a:extLst>
              <a:ext uri="{FF2B5EF4-FFF2-40B4-BE49-F238E27FC236}">
                <a16:creationId xmlns:a16="http://schemas.microsoft.com/office/drawing/2014/main" id="{0F297354-9DE0-4AF2-A54F-DBEEC2C70CAF}"/>
              </a:ext>
            </a:extLst>
          </p:cNvPr>
          <p:cNvSpPr>
            <a:spLocks noGrp="1"/>
          </p:cNvSpPr>
          <p:nvPr/>
        </p:nvSpPr>
        <p:spPr>
          <a:xfrm>
            <a:off x="1781175" y="1809750"/>
            <a:ext cx="6191250" cy="283845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-152">
            <a:extLst>
              <a:ext uri="{FF2B5EF4-FFF2-40B4-BE49-F238E27FC236}">
                <a16:creationId xmlns:a16="http://schemas.microsoft.com/office/drawing/2014/main" id="{D31860D8-4B8C-40A2-B8C3-FA7C85E4CB88}"/>
              </a:ext>
            </a:extLst>
          </p:cNvPr>
          <p:cNvSpPr>
            <a:spLocks noGrp="1"/>
          </p:cNvSpPr>
          <p:nvPr/>
        </p:nvSpPr>
        <p:spPr>
          <a:xfrm>
            <a:off x="1943100" y="1952625"/>
            <a:ext cx="5867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¿Qué revisaría el inversionista o analista?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323AAFF6-8B19-466B-871C-FFA98A878C0A}"/>
              </a:ext>
            </a:extLst>
          </p:cNvPr>
          <p:cNvGraphicFramePr/>
          <p:nvPr/>
        </p:nvGraphicFramePr>
        <p:xfrm>
          <a:off x="1971675" y="2276475"/>
          <a:ext cx="5810250" cy="2171700"/>
        </p:xfrm>
        <a:graphic>
          <a:graphicData uri="http://schemas.openxmlformats.org/drawingml/2006/table">
            <a:tbl>
              <a:tblPr/>
              <a:tblGrid>
                <a:gridCol w="211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Campo visible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Información que se mostrará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>
                      <a:solidFill>
                        <a:srgbClr val="D7E3F2"/>
                      </a:solidFill>
                      <a:prstDash val="soli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173B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Registro y año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Identificador trazable y fecha de registro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Municipio y valor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Contexto territorial y monto registrado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Grupo comparable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Criterios usados para agrupar registros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Razón del señalamiento</a:t>
                      </a:r>
                    </a:p>
                  </a:txBody>
                  <a:tcPr anchor="ctr">
                    <a:lnL w="9525">
                      <a:solidFill>
                        <a:srgbClr val="D7E3F2"/>
                      </a:solidFill>
                      <a:prstDash val="soli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3B61"/>
                          </a:solidFill>
                          <a:latin typeface="Aptos"/>
                          <a:ea typeface="Aptos"/>
                          <a:cs typeface="Aptos"/>
                        </a:rPr>
                        <a:t>Distancia o contraste frente al grupo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7E3F2"/>
                      </a:solidFill>
                      <a:prstDash val="soli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7E3F2"/>
                      </a:solidFill>
                      <a:prstDash val="solid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panel-153">
            <a:extLst>
              <a:ext uri="{FF2B5EF4-FFF2-40B4-BE49-F238E27FC236}">
                <a16:creationId xmlns:a16="http://schemas.microsoft.com/office/drawing/2014/main" id="{FADEDDEA-389C-440A-AFF7-3F8E1B6869B0}"/>
              </a:ext>
            </a:extLst>
          </p:cNvPr>
          <p:cNvSpPr>
            <a:spLocks noGrp="1"/>
          </p:cNvSpPr>
          <p:nvPr/>
        </p:nvSpPr>
        <p:spPr>
          <a:xfrm>
            <a:off x="8181975" y="1809750"/>
            <a:ext cx="3657600" cy="283845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-154">
            <a:extLst>
              <a:ext uri="{FF2B5EF4-FFF2-40B4-BE49-F238E27FC236}">
                <a16:creationId xmlns:a16="http://schemas.microsoft.com/office/drawing/2014/main" id="{90449E16-00E5-4D54-8D8F-F8413F8054ED}"/>
              </a:ext>
            </a:extLst>
          </p:cNvPr>
          <p:cNvSpPr>
            <a:spLocks noGrp="1"/>
          </p:cNvSpPr>
          <p:nvPr/>
        </p:nvSpPr>
        <p:spPr>
          <a:xfrm>
            <a:off x="8343900" y="1952625"/>
            <a:ext cx="3333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Estado del componente</a:t>
            </a:r>
          </a:p>
        </p:txBody>
      </p:sp>
      <p:sp>
        <p:nvSpPr>
          <p:cNvPr id="26" name="text-155">
            <a:extLst>
              <a:ext uri="{FF2B5EF4-FFF2-40B4-BE49-F238E27FC236}">
                <a16:creationId xmlns:a16="http://schemas.microsoft.com/office/drawing/2014/main" id="{0A58F5A8-A076-45B6-914E-69BFF1676F0F}"/>
              </a:ext>
            </a:extLst>
          </p:cNvPr>
          <p:cNvSpPr>
            <a:spLocks noGrp="1"/>
          </p:cNvSpPr>
          <p:nvPr/>
        </p:nvSpPr>
        <p:spPr>
          <a:xfrm>
            <a:off x="8401050" y="2324100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17D9C"/>
                </a:solidFill>
                <a:latin typeface="Aptos"/>
                <a:ea typeface="Aptos"/>
                <a:cs typeface="Aptos"/>
              </a:rPr>
              <a:t>Alertas calculadas</a:t>
            </a:r>
          </a:p>
        </p:txBody>
      </p:sp>
      <p:sp>
        <p:nvSpPr>
          <p:cNvPr id="27" name="text-156">
            <a:extLst>
              <a:ext uri="{FF2B5EF4-FFF2-40B4-BE49-F238E27FC236}">
                <a16:creationId xmlns:a16="http://schemas.microsoft.com/office/drawing/2014/main" id="{0300B552-CE8D-45A9-A017-C7BA2061CAAB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175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6F63C7"/>
                </a:solidFill>
                <a:latin typeface="Aptos"/>
                <a:ea typeface="Aptos"/>
                <a:cs typeface="Aptos"/>
              </a:rPr>
              <a:t>Pendiente</a:t>
            </a:r>
          </a:p>
        </p:txBody>
      </p:sp>
      <p:sp>
        <p:nvSpPr>
          <p:cNvPr id="28" name="text-157">
            <a:extLst>
              <a:ext uri="{FF2B5EF4-FFF2-40B4-BE49-F238E27FC236}">
                <a16:creationId xmlns:a16="http://schemas.microsoft.com/office/drawing/2014/main" id="{B90266D0-379F-41D2-92C9-E54D6B23709C}"/>
              </a:ext>
            </a:extLst>
          </p:cNvPr>
          <p:cNvSpPr>
            <a:spLocks noGrp="1"/>
          </p:cNvSpPr>
          <p:nvPr/>
        </p:nvSpPr>
        <p:spPr>
          <a:xfrm>
            <a:off x="8401050" y="3248025"/>
            <a:ext cx="3067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Se definirá el método, los grupos de comparación y el tamaño de la lista antes de evaluarla.</a:t>
            </a:r>
          </a:p>
        </p:txBody>
      </p:sp>
      <p:sp>
        <p:nvSpPr>
          <p:cNvPr id="29" name="panel-158">
            <a:extLst>
              <a:ext uri="{FF2B5EF4-FFF2-40B4-BE49-F238E27FC236}">
                <a16:creationId xmlns:a16="http://schemas.microsoft.com/office/drawing/2014/main" id="{B87775A0-E233-4350-B35E-555FA7080DF4}"/>
              </a:ext>
            </a:extLst>
          </p:cNvPr>
          <p:cNvSpPr>
            <a:spLocks noGrp="1"/>
          </p:cNvSpPr>
          <p:nvPr/>
        </p:nvSpPr>
        <p:spPr>
          <a:xfrm>
            <a:off x="1781175" y="4857750"/>
            <a:ext cx="100584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-159">
            <a:extLst>
              <a:ext uri="{FF2B5EF4-FFF2-40B4-BE49-F238E27FC236}">
                <a16:creationId xmlns:a16="http://schemas.microsoft.com/office/drawing/2014/main" id="{0D140817-9966-4699-BE0E-120AEFA6BA7E}"/>
              </a:ext>
            </a:extLst>
          </p:cNvPr>
          <p:cNvSpPr>
            <a:spLocks noGrp="1"/>
          </p:cNvSpPr>
          <p:nvPr/>
        </p:nvSpPr>
        <p:spPr>
          <a:xfrm>
            <a:off x="1943100" y="5000625"/>
            <a:ext cx="973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Criterios propuestos para evaluar las alertas</a:t>
            </a:r>
          </a:p>
        </p:txBody>
      </p:sp>
      <p:sp>
        <p:nvSpPr>
          <p:cNvPr id="31" name="text-160">
            <a:extLst>
              <a:ext uri="{FF2B5EF4-FFF2-40B4-BE49-F238E27FC236}">
                <a16:creationId xmlns:a16="http://schemas.microsoft.com/office/drawing/2014/main" id="{1FFBEE98-0440-4778-B152-E4A6B5C916B9}"/>
              </a:ext>
            </a:extLst>
          </p:cNvPr>
          <p:cNvSpPr>
            <a:spLocks noGrp="1"/>
          </p:cNvSpPr>
          <p:nvPr/>
        </p:nvSpPr>
        <p:spPr>
          <a:xfrm>
            <a:off x="1971675" y="5276850"/>
            <a:ext cx="9620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Trazabilidad: identificar el registro, su grupo y la razón en el 100 % de las alertas revisadas.</a:t>
            </a:r>
          </a:p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Estabilidad: ensayar una permanencia mínima del 80 % en las 50 primeras, con variaciones de parámetros definidas.</a:t>
            </a:r>
          </a:p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Estos criterios evalúan consistencia y explicación; una alerta solo es una señal para investigar.</a:t>
            </a:r>
          </a:p>
        </p:txBody>
      </p:sp>
    </p:spTree>
    <p:extLst>
      <p:ext uri="{BB962C8B-B14F-4D97-AF65-F5344CB8AC3E}">
        <p14:creationId xmlns:p14="http://schemas.microsoft.com/office/powerpoint/2010/main" val="328031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49D38C-3B1C-482B-A0DC-4807F374FB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21A816-B876-45A9-95B3-93AEF4C23048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5BAF6F7-78E4-4491-8A49-FDF0800B5D3E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text-161">
            <a:extLst>
              <a:ext uri="{FF2B5EF4-FFF2-40B4-BE49-F238E27FC236}">
                <a16:creationId xmlns:a16="http://schemas.microsoft.com/office/drawing/2014/main" id="{1EA3BA69-5B21-4FDE-9D9B-850354B5D084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6" name="text-162">
            <a:extLst>
              <a:ext uri="{FF2B5EF4-FFF2-40B4-BE49-F238E27FC236}">
                <a16:creationId xmlns:a16="http://schemas.microsoft.com/office/drawing/2014/main" id="{14E9AEB8-9412-4FC4-9D68-28A265047EF5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7" name="text-163">
            <a:extLst>
              <a:ext uri="{FF2B5EF4-FFF2-40B4-BE49-F238E27FC236}">
                <a16:creationId xmlns:a16="http://schemas.microsoft.com/office/drawing/2014/main" id="{C05B29DF-D914-4EAE-9183-565A459AEB8F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8" name="text-164">
            <a:extLst>
              <a:ext uri="{FF2B5EF4-FFF2-40B4-BE49-F238E27FC236}">
                <a16:creationId xmlns:a16="http://schemas.microsoft.com/office/drawing/2014/main" id="{2C072BA2-8754-4B7D-88C6-93CA23A75E70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9" name="text-165">
            <a:extLst>
              <a:ext uri="{FF2B5EF4-FFF2-40B4-BE49-F238E27FC236}">
                <a16:creationId xmlns:a16="http://schemas.microsoft.com/office/drawing/2014/main" id="{A04F844C-794B-40F8-9997-6F55CEACD314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0" name="panel-166">
            <a:extLst>
              <a:ext uri="{FF2B5EF4-FFF2-40B4-BE49-F238E27FC236}">
                <a16:creationId xmlns:a16="http://schemas.microsoft.com/office/drawing/2014/main" id="{AC291DB6-48DC-488B-B965-050189955E45}"/>
              </a:ext>
            </a:extLst>
          </p:cNvPr>
          <p:cNvSpPr>
            <a:spLocks noGrp="1"/>
          </p:cNvSpPr>
          <p:nvPr/>
        </p:nvSpPr>
        <p:spPr>
          <a:xfrm>
            <a:off x="104775" y="3571875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-167">
            <a:extLst>
              <a:ext uri="{FF2B5EF4-FFF2-40B4-BE49-F238E27FC236}">
                <a16:creationId xmlns:a16="http://schemas.microsoft.com/office/drawing/2014/main" id="{124AD76F-9F6D-42EC-90FC-BA21AA64DFE9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2" name="text-168">
            <a:extLst>
              <a:ext uri="{FF2B5EF4-FFF2-40B4-BE49-F238E27FC236}">
                <a16:creationId xmlns:a16="http://schemas.microsoft.com/office/drawing/2014/main" id="{8EA986AF-AEA4-41E4-BF78-B6F5C834AF2B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169">
            <a:extLst>
              <a:ext uri="{FF2B5EF4-FFF2-40B4-BE49-F238E27FC236}">
                <a16:creationId xmlns:a16="http://schemas.microsoft.com/office/drawing/2014/main" id="{A5BBA619-751B-4802-8C51-A1A18B58D154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5" name="text-171">
            <a:extLst>
              <a:ext uri="{FF2B5EF4-FFF2-40B4-BE49-F238E27FC236}">
                <a16:creationId xmlns:a16="http://schemas.microsoft.com/office/drawing/2014/main" id="{40A77340-0456-49F7-BC99-58D4F03749FD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Estimaciones de valores registrados</a:t>
            </a:r>
          </a:p>
        </p:txBody>
      </p:sp>
      <p:sp>
        <p:nvSpPr>
          <p:cNvPr id="16" name="text-172">
            <a:extLst>
              <a:ext uri="{FF2B5EF4-FFF2-40B4-BE49-F238E27FC236}">
                <a16:creationId xmlns:a16="http://schemas.microsoft.com/office/drawing/2014/main" id="{7A856FB3-2A66-4443-8099-7592035E481D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Componente exploratorio sujeto a disponibilidad de variables y evaluación.</a:t>
            </a:r>
          </a:p>
        </p:txBody>
      </p:sp>
      <p:sp>
        <p:nvSpPr>
          <p:cNvPr id="17" name="text-173">
            <a:extLst>
              <a:ext uri="{FF2B5EF4-FFF2-40B4-BE49-F238E27FC236}">
                <a16:creationId xmlns:a16="http://schemas.microsoft.com/office/drawing/2014/main" id="{A487716B-0FD9-44D0-97F6-0E900014E877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18" name="text-174">
            <a:extLst>
              <a:ext uri="{FF2B5EF4-FFF2-40B4-BE49-F238E27FC236}">
                <a16:creationId xmlns:a16="http://schemas.microsoft.com/office/drawing/2014/main" id="{34BA6C93-6D2E-4542-9606-4D893AFD523F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06 / 08</a:t>
            </a:r>
          </a:p>
        </p:txBody>
      </p:sp>
      <p:sp>
        <p:nvSpPr>
          <p:cNvPr id="19" name="panel-175">
            <a:extLst>
              <a:ext uri="{FF2B5EF4-FFF2-40B4-BE49-F238E27FC236}">
                <a16:creationId xmlns:a16="http://schemas.microsoft.com/office/drawing/2014/main" id="{5AB04037-BDFB-41DE-A09D-FFA796BC3AB8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4838700" cy="3762375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-176">
            <a:extLst>
              <a:ext uri="{FF2B5EF4-FFF2-40B4-BE49-F238E27FC236}">
                <a16:creationId xmlns:a16="http://schemas.microsoft.com/office/drawing/2014/main" id="{93E878E9-38AB-40A0-A67C-DC440F68040A}"/>
              </a:ext>
            </a:extLst>
          </p:cNvPr>
          <p:cNvSpPr>
            <a:spLocks noGrp="1"/>
          </p:cNvSpPr>
          <p:nvPr/>
        </p:nvSpPr>
        <p:spPr>
          <a:xfrm>
            <a:off x="1943100" y="1295400"/>
            <a:ext cx="451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Configuración prevista</a:t>
            </a:r>
          </a:p>
        </p:txBody>
      </p:sp>
      <p:sp>
        <p:nvSpPr>
          <p:cNvPr id="21" name="text-177">
            <a:extLst>
              <a:ext uri="{FF2B5EF4-FFF2-40B4-BE49-F238E27FC236}">
                <a16:creationId xmlns:a16="http://schemas.microsoft.com/office/drawing/2014/main" id="{4C72296F-5EE1-49B1-8E98-1E7AC2201DED}"/>
              </a:ext>
            </a:extLst>
          </p:cNvPr>
          <p:cNvSpPr>
            <a:spLocks noGrp="1"/>
          </p:cNvSpPr>
          <p:nvPr/>
        </p:nvSpPr>
        <p:spPr>
          <a:xfrm>
            <a:off x="2000250" y="1695450"/>
            <a:ext cx="428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17D9C"/>
                </a:solidFill>
                <a:latin typeface="Aptos"/>
                <a:ea typeface="Aptos"/>
                <a:cs typeface="Aptos"/>
              </a:rPr>
              <a:t>Municipio</a:t>
            </a:r>
          </a:p>
        </p:txBody>
      </p:sp>
      <p:sp>
        <p:nvSpPr>
          <p:cNvPr id="22" name="panel-178">
            <a:extLst>
              <a:ext uri="{FF2B5EF4-FFF2-40B4-BE49-F238E27FC236}">
                <a16:creationId xmlns:a16="http://schemas.microsoft.com/office/drawing/2014/main" id="{F67E3A2B-1706-4137-AC05-32F57340C98A}"/>
              </a:ext>
            </a:extLst>
          </p:cNvPr>
          <p:cNvSpPr>
            <a:spLocks noGrp="1"/>
          </p:cNvSpPr>
          <p:nvPr/>
        </p:nvSpPr>
        <p:spPr>
          <a:xfrm>
            <a:off x="2000250" y="2009775"/>
            <a:ext cx="4381500" cy="409575"/>
          </a:xfrm>
          <a:prstGeom prst="roundRect">
            <a:avLst>
              <a:gd name="adj" fmla="val 27907"/>
            </a:avLst>
          </a:prstGeom>
          <a:solidFill>
            <a:srgbClr val="F5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-179">
            <a:extLst>
              <a:ext uri="{FF2B5EF4-FFF2-40B4-BE49-F238E27FC236}">
                <a16:creationId xmlns:a16="http://schemas.microsoft.com/office/drawing/2014/main" id="{5A72A85D-DB5B-42AF-A040-6C3ACFE42CF6}"/>
              </a:ext>
            </a:extLst>
          </p:cNvPr>
          <p:cNvSpPr>
            <a:spLocks noGrp="1"/>
          </p:cNvSpPr>
          <p:nvPr/>
        </p:nvSpPr>
        <p:spPr>
          <a:xfrm>
            <a:off x="2152650" y="2143125"/>
            <a:ext cx="40290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Armenia</a:t>
            </a:r>
          </a:p>
        </p:txBody>
      </p:sp>
      <p:sp>
        <p:nvSpPr>
          <p:cNvPr id="24" name="text-180">
            <a:extLst>
              <a:ext uri="{FF2B5EF4-FFF2-40B4-BE49-F238E27FC236}">
                <a16:creationId xmlns:a16="http://schemas.microsoft.com/office/drawing/2014/main" id="{793AFC7E-4570-4A07-8B17-67C77B626121}"/>
              </a:ext>
            </a:extLst>
          </p:cNvPr>
          <p:cNvSpPr>
            <a:spLocks noGrp="1"/>
          </p:cNvSpPr>
          <p:nvPr/>
        </p:nvSpPr>
        <p:spPr>
          <a:xfrm>
            <a:off x="2000250" y="2676525"/>
            <a:ext cx="428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17D9C"/>
                </a:solidFill>
                <a:latin typeface="Aptos"/>
                <a:ea typeface="Aptos"/>
                <a:cs typeface="Aptos"/>
              </a:rPr>
              <a:t>Información de entrada</a:t>
            </a:r>
          </a:p>
        </p:txBody>
      </p:sp>
      <p:sp>
        <p:nvSpPr>
          <p:cNvPr id="25" name="text-181">
            <a:extLst>
              <a:ext uri="{FF2B5EF4-FFF2-40B4-BE49-F238E27FC236}">
                <a16:creationId xmlns:a16="http://schemas.microsoft.com/office/drawing/2014/main" id="{1641DCDE-1672-4FEC-8846-14F3F8977E41}"/>
              </a:ext>
            </a:extLst>
          </p:cNvPr>
          <p:cNvSpPr>
            <a:spLocks noGrp="1"/>
          </p:cNvSpPr>
          <p:nvPr/>
        </p:nvSpPr>
        <p:spPr>
          <a:xfrm>
            <a:off x="2000250" y="3048000"/>
            <a:ext cx="42862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Se definirán variables disponibles y conocidas al estimar, después del perfilamiento.</a:t>
            </a:r>
          </a:p>
          <a:p>
            <a:endParaRPr sz="1200" b="0">
              <a:solidFill>
                <a:srgbClr val="617D9C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No se solicitan área, habitaciones o antigüedad: no están disponibles en esta fuente.</a:t>
            </a:r>
          </a:p>
        </p:txBody>
      </p:sp>
      <p:sp>
        <p:nvSpPr>
          <p:cNvPr id="26" name="panel-182">
            <a:extLst>
              <a:ext uri="{FF2B5EF4-FFF2-40B4-BE49-F238E27FC236}">
                <a16:creationId xmlns:a16="http://schemas.microsoft.com/office/drawing/2014/main" id="{21908325-6595-4F74-A8A8-E152106B4B44}"/>
              </a:ext>
            </a:extLst>
          </p:cNvPr>
          <p:cNvSpPr>
            <a:spLocks noGrp="1"/>
          </p:cNvSpPr>
          <p:nvPr/>
        </p:nvSpPr>
        <p:spPr>
          <a:xfrm>
            <a:off x="2000250" y="4400550"/>
            <a:ext cx="2571750" cy="314325"/>
          </a:xfrm>
          <a:prstGeom prst="roundRect">
            <a:avLst>
              <a:gd name="adj" fmla="val 18182"/>
            </a:avLst>
          </a:prstGeom>
          <a:solidFill>
            <a:srgbClr val="6F63C7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-183">
            <a:extLst>
              <a:ext uri="{FF2B5EF4-FFF2-40B4-BE49-F238E27FC236}">
                <a16:creationId xmlns:a16="http://schemas.microsoft.com/office/drawing/2014/main" id="{BA889CBE-1D36-4250-8F1F-EC9F0A6615D0}"/>
              </a:ext>
            </a:extLst>
          </p:cNvPr>
          <p:cNvSpPr>
            <a:spLocks noGrp="1"/>
          </p:cNvSpPr>
          <p:nvPr/>
        </p:nvSpPr>
        <p:spPr>
          <a:xfrm>
            <a:off x="2076450" y="4476750"/>
            <a:ext cx="2419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PENDIENTE DE DESARROLLO</a:t>
            </a:r>
          </a:p>
        </p:txBody>
      </p:sp>
      <p:sp>
        <p:nvSpPr>
          <p:cNvPr id="28" name="panel-184">
            <a:extLst>
              <a:ext uri="{FF2B5EF4-FFF2-40B4-BE49-F238E27FC236}">
                <a16:creationId xmlns:a16="http://schemas.microsoft.com/office/drawing/2014/main" id="{76CAFA66-CE70-481B-BCF7-30088D4C6B69}"/>
              </a:ext>
            </a:extLst>
          </p:cNvPr>
          <p:cNvSpPr>
            <a:spLocks noGrp="1"/>
          </p:cNvSpPr>
          <p:nvPr/>
        </p:nvSpPr>
        <p:spPr>
          <a:xfrm>
            <a:off x="6848475" y="1152525"/>
            <a:ext cx="4991100" cy="1952625"/>
          </a:xfrm>
          <a:prstGeom prst="roundRect">
            <a:avLst>
              <a:gd name="adj" fmla="val 5854"/>
            </a:avLst>
          </a:prstGeom>
          <a:solidFill>
            <a:srgbClr val="ECEAFA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-185">
            <a:extLst>
              <a:ext uri="{FF2B5EF4-FFF2-40B4-BE49-F238E27FC236}">
                <a16:creationId xmlns:a16="http://schemas.microsoft.com/office/drawing/2014/main" id="{B6FF97C0-B1C8-4BCB-9A4C-81AE1E2F65D5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F63C7"/>
                </a:solidFill>
                <a:latin typeface="Aptos"/>
                <a:ea typeface="Aptos"/>
                <a:cs typeface="Aptos"/>
              </a:rPr>
              <a:t>Valor estimado</a:t>
            </a:r>
          </a:p>
        </p:txBody>
      </p:sp>
      <p:sp>
        <p:nvSpPr>
          <p:cNvPr id="30" name="text-186">
            <a:extLst>
              <a:ext uri="{FF2B5EF4-FFF2-40B4-BE49-F238E27FC236}">
                <a16:creationId xmlns:a16="http://schemas.microsoft.com/office/drawing/2014/main" id="{2CFBF0C6-1AEC-4450-9B50-1FA134F7F3A0}"/>
              </a:ext>
            </a:extLst>
          </p:cNvPr>
          <p:cNvSpPr>
            <a:spLocks noGrp="1"/>
          </p:cNvSpPr>
          <p:nvPr/>
        </p:nvSpPr>
        <p:spPr>
          <a:xfrm>
            <a:off x="7077075" y="18859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10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63C7"/>
                </a:solidFill>
                <a:latin typeface="Aptos"/>
                <a:ea typeface="Aptos"/>
                <a:cs typeface="Aptos"/>
              </a:rPr>
              <a:t>Sin resultado calculado</a:t>
            </a:r>
          </a:p>
        </p:txBody>
      </p:sp>
      <p:sp>
        <p:nvSpPr>
          <p:cNvPr id="31" name="text-187">
            <a:extLst>
              <a:ext uri="{FF2B5EF4-FFF2-40B4-BE49-F238E27FC236}">
                <a16:creationId xmlns:a16="http://schemas.microsoft.com/office/drawing/2014/main" id="{6116903D-7397-4A0D-B2C3-74A896118118}"/>
              </a:ext>
            </a:extLst>
          </p:cNvPr>
          <p:cNvSpPr>
            <a:spLocks noGrp="1"/>
          </p:cNvSpPr>
          <p:nvPr/>
        </p:nvSpPr>
        <p:spPr>
          <a:xfrm>
            <a:off x="7077075" y="2505075"/>
            <a:ext cx="44291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El mockup no ejecuta un modelo ni genera un avalúo.</a:t>
            </a:r>
          </a:p>
        </p:txBody>
      </p:sp>
      <p:sp>
        <p:nvSpPr>
          <p:cNvPr id="32" name="panel-188">
            <a:extLst>
              <a:ext uri="{FF2B5EF4-FFF2-40B4-BE49-F238E27FC236}">
                <a16:creationId xmlns:a16="http://schemas.microsoft.com/office/drawing/2014/main" id="{6155652A-4AAB-461E-A5F4-A10E591492FD}"/>
              </a:ext>
            </a:extLst>
          </p:cNvPr>
          <p:cNvSpPr>
            <a:spLocks noGrp="1"/>
          </p:cNvSpPr>
          <p:nvPr/>
        </p:nvSpPr>
        <p:spPr>
          <a:xfrm>
            <a:off x="6848475" y="3314700"/>
            <a:ext cx="4991100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-189">
            <a:extLst>
              <a:ext uri="{FF2B5EF4-FFF2-40B4-BE49-F238E27FC236}">
                <a16:creationId xmlns:a16="http://schemas.microsoft.com/office/drawing/2014/main" id="{0D6F9956-8444-4C18-987A-B7A74FEA8850}"/>
              </a:ext>
            </a:extLst>
          </p:cNvPr>
          <p:cNvSpPr>
            <a:spLocks noGrp="1"/>
          </p:cNvSpPr>
          <p:nvPr/>
        </p:nvSpPr>
        <p:spPr>
          <a:xfrm>
            <a:off x="7010400" y="3457575"/>
            <a:ext cx="4667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Evaluación del error absoluto medio (MAE)</a:t>
            </a:r>
          </a:p>
        </p:txBody>
      </p:sp>
      <p:sp>
        <p:nvSpPr>
          <p:cNvPr id="34" name="text-190">
            <a:extLst>
              <a:ext uri="{FF2B5EF4-FFF2-40B4-BE49-F238E27FC236}">
                <a16:creationId xmlns:a16="http://schemas.microsoft.com/office/drawing/2014/main" id="{CBFD705D-A80C-446F-A7CD-896F8852AC21}"/>
              </a:ext>
            </a:extLst>
          </p:cNvPr>
          <p:cNvSpPr>
            <a:spLocks noGrp="1"/>
          </p:cNvSpPr>
          <p:nvPr/>
        </p:nvSpPr>
        <p:spPr>
          <a:xfrm>
            <a:off x="7077075" y="3781425"/>
            <a:ext cx="4476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El MAE deberá ser menor que el de la referencia en el resultado global y en cada municipio donde se utilicen las estimaciones.</a:t>
            </a:r>
          </a:p>
        </p:txBody>
      </p:sp>
      <p:sp>
        <p:nvSpPr>
          <p:cNvPr id="35" name="panel-191">
            <a:extLst>
              <a:ext uri="{FF2B5EF4-FFF2-40B4-BE49-F238E27FC236}">
                <a16:creationId xmlns:a16="http://schemas.microsoft.com/office/drawing/2014/main" id="{9D38D9D9-73DC-4D5E-94B1-47717D2A08B0}"/>
              </a:ext>
            </a:extLst>
          </p:cNvPr>
          <p:cNvSpPr>
            <a:spLocks noGrp="1"/>
          </p:cNvSpPr>
          <p:nvPr/>
        </p:nvSpPr>
        <p:spPr>
          <a:xfrm>
            <a:off x="1781175" y="5124450"/>
            <a:ext cx="10058400" cy="1266825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-192">
            <a:extLst>
              <a:ext uri="{FF2B5EF4-FFF2-40B4-BE49-F238E27FC236}">
                <a16:creationId xmlns:a16="http://schemas.microsoft.com/office/drawing/2014/main" id="{DACBA4B3-3F57-4911-8760-EB0A5D36A9C0}"/>
              </a:ext>
            </a:extLst>
          </p:cNvPr>
          <p:cNvSpPr>
            <a:spLocks noGrp="1"/>
          </p:cNvSpPr>
          <p:nvPr/>
        </p:nvSpPr>
        <p:spPr>
          <a:xfrm>
            <a:off x="1943100" y="5267325"/>
            <a:ext cx="973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¿Cómo se evaluará?</a:t>
            </a:r>
          </a:p>
        </p:txBody>
      </p:sp>
      <p:sp>
        <p:nvSpPr>
          <p:cNvPr id="37" name="text-193">
            <a:extLst>
              <a:ext uri="{FF2B5EF4-FFF2-40B4-BE49-F238E27FC236}">
                <a16:creationId xmlns:a16="http://schemas.microsoft.com/office/drawing/2014/main" id="{FE818B57-5730-477D-88B6-DE55768657E8}"/>
              </a:ext>
            </a:extLst>
          </p:cNvPr>
          <p:cNvSpPr>
            <a:spLocks noGrp="1"/>
          </p:cNvSpPr>
          <p:nvPr/>
        </p:nvSpPr>
        <p:spPr>
          <a:xfrm>
            <a:off x="1971675" y="5514975"/>
            <a:ext cx="9620250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Prueba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 temporal posterior al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entrenamiento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.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Referencia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: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mediana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 municipal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calculada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 solo con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entrenamiento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.</a:t>
            </a:r>
          </a:p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Se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reportará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 MAE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en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 pesos y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mejora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617D9C"/>
                </a:solidFill>
                <a:latin typeface="Aptos"/>
                <a:ea typeface="Aptos"/>
                <a:cs typeface="Aptos"/>
              </a:rPr>
              <a:t>relativa</a:t>
            </a:r>
            <a:r>
              <a:rPr sz="1125" b="0" dirty="0">
                <a:solidFill>
                  <a:srgbClr val="617D9C"/>
                </a:solidFill>
                <a:latin typeface="Aptos"/>
                <a:ea typeface="Aptos"/>
                <a:cs typeface="Apto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8031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49D38C-3B1C-482B-A0DC-4807F374FB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173B61"/>
          </a:solidFill>
          <a:ln w="12700">
            <a:solidFill>
              <a:srgbClr val="173B6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21A816-B876-45A9-95B3-93AEF4C23048}"/>
              </a:ext>
            </a:extLst>
          </p:cNvPr>
          <p:cNvSpPr>
            <a:spLocks noGrp="1"/>
          </p:cNvSpPr>
          <p:nvPr/>
        </p:nvSpPr>
        <p:spPr>
          <a:xfrm>
            <a:off x="201168" y="256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DSA</a:t>
            </a:r>
            <a:endParaRPr sz="2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5BAF6F7-78E4-4491-8A49-FDF0800B5D3E}"/>
              </a:ext>
            </a:extLst>
          </p:cNvPr>
          <p:cNvSpPr>
            <a:spLocks noGrp="1"/>
          </p:cNvSpPr>
          <p:nvPr/>
        </p:nvSpPr>
        <p:spPr>
          <a:xfrm>
            <a:off x="201168" y="61264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BFD4E7"/>
                </a:solidFill>
                <a:latin typeface="Aptos"/>
                <a:ea typeface="Aptos"/>
                <a:cs typeface="Aptos"/>
              </a:rPr>
              <a:t>Prototipo</a:t>
            </a:r>
            <a:endParaRPr sz="1100"/>
          </a:p>
        </p:txBody>
      </p:sp>
      <p:sp>
        <p:nvSpPr>
          <p:cNvPr id="5" name="text-194">
            <a:extLst>
              <a:ext uri="{FF2B5EF4-FFF2-40B4-BE49-F238E27FC236}">
                <a16:creationId xmlns:a16="http://schemas.microsoft.com/office/drawing/2014/main" id="{0A5F9460-9763-48D1-B9E4-9B4E6BEF2B3B}"/>
              </a:ext>
            </a:extLst>
          </p:cNvPr>
          <p:cNvSpPr>
            <a:spLocks noGrp="1"/>
          </p:cNvSpPr>
          <p:nvPr/>
        </p:nvSpPr>
        <p:spPr>
          <a:xfrm>
            <a:off x="257175" y="11620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Inicio</a:t>
            </a:r>
          </a:p>
        </p:txBody>
      </p:sp>
      <p:sp>
        <p:nvSpPr>
          <p:cNvPr id="6" name="text-195">
            <a:extLst>
              <a:ext uri="{FF2B5EF4-FFF2-40B4-BE49-F238E27FC236}">
                <a16:creationId xmlns:a16="http://schemas.microsoft.com/office/drawing/2014/main" id="{F9402236-615B-4402-AE41-F88E5A71D01D}"/>
              </a:ext>
            </a:extLst>
          </p:cNvPr>
          <p:cNvSpPr>
            <a:spLocks noGrp="1"/>
          </p:cNvSpPr>
          <p:nvPr/>
        </p:nvSpPr>
        <p:spPr>
          <a:xfrm>
            <a:off x="257175" y="16668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municipio</a:t>
            </a:r>
          </a:p>
        </p:txBody>
      </p:sp>
      <p:sp>
        <p:nvSpPr>
          <p:cNvPr id="7" name="text-196">
            <a:extLst>
              <a:ext uri="{FF2B5EF4-FFF2-40B4-BE49-F238E27FC236}">
                <a16:creationId xmlns:a16="http://schemas.microsoft.com/office/drawing/2014/main" id="{BD59C1FF-3296-4C05-8C6D-737EABFF027B}"/>
              </a:ext>
            </a:extLst>
          </p:cNvPr>
          <p:cNvSpPr>
            <a:spLocks noGrp="1"/>
          </p:cNvSpPr>
          <p:nvPr/>
        </p:nvSpPr>
        <p:spPr>
          <a:xfrm>
            <a:off x="257175" y="21717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Comparación</a:t>
            </a:r>
          </a:p>
        </p:txBody>
      </p:sp>
      <p:sp>
        <p:nvSpPr>
          <p:cNvPr id="8" name="text-197">
            <a:extLst>
              <a:ext uri="{FF2B5EF4-FFF2-40B4-BE49-F238E27FC236}">
                <a16:creationId xmlns:a16="http://schemas.microsoft.com/office/drawing/2014/main" id="{A659BEDE-48CD-449B-AF3F-611A23AA5F73}"/>
              </a:ext>
            </a:extLst>
          </p:cNvPr>
          <p:cNvSpPr>
            <a:spLocks noGrp="1"/>
          </p:cNvSpPr>
          <p:nvPr/>
        </p:nvSpPr>
        <p:spPr>
          <a:xfrm>
            <a:off x="257175" y="26765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9" name="text-198">
            <a:extLst>
              <a:ext uri="{FF2B5EF4-FFF2-40B4-BE49-F238E27FC236}">
                <a16:creationId xmlns:a16="http://schemas.microsoft.com/office/drawing/2014/main" id="{D5F2E952-DCF5-4D54-BCD6-55A55A49B935}"/>
              </a:ext>
            </a:extLst>
          </p:cNvPr>
          <p:cNvSpPr>
            <a:spLocks noGrp="1"/>
          </p:cNvSpPr>
          <p:nvPr/>
        </p:nvSpPr>
        <p:spPr>
          <a:xfrm>
            <a:off x="257175" y="318135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10" name="text-199">
            <a:extLst>
              <a:ext uri="{FF2B5EF4-FFF2-40B4-BE49-F238E27FC236}">
                <a16:creationId xmlns:a16="http://schemas.microsoft.com/office/drawing/2014/main" id="{68BCA611-7431-4DE1-B7E9-3D6F49A2DAA2}"/>
              </a:ext>
            </a:extLst>
          </p:cNvPr>
          <p:cNvSpPr>
            <a:spLocks noGrp="1"/>
          </p:cNvSpPr>
          <p:nvPr/>
        </p:nvSpPr>
        <p:spPr>
          <a:xfrm>
            <a:off x="257175" y="368617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Estimaciones</a:t>
            </a:r>
          </a:p>
        </p:txBody>
      </p:sp>
      <p:sp>
        <p:nvSpPr>
          <p:cNvPr id="11" name="panel-200">
            <a:extLst>
              <a:ext uri="{FF2B5EF4-FFF2-40B4-BE49-F238E27FC236}">
                <a16:creationId xmlns:a16="http://schemas.microsoft.com/office/drawing/2014/main" id="{6FA92F41-09B4-4C61-9A70-0C35661E6F18}"/>
              </a:ext>
            </a:extLst>
          </p:cNvPr>
          <p:cNvSpPr>
            <a:spLocks noGrp="1"/>
          </p:cNvSpPr>
          <p:nvPr/>
        </p:nvSpPr>
        <p:spPr>
          <a:xfrm>
            <a:off x="104775" y="4076700"/>
            <a:ext cx="1343025" cy="409575"/>
          </a:xfrm>
          <a:prstGeom prst="roundRect">
            <a:avLst>
              <a:gd name="adj" fmla="val 16279"/>
            </a:avLst>
          </a:prstGeom>
          <a:solidFill>
            <a:srgbClr val="2A6091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-201">
            <a:extLst>
              <a:ext uri="{FF2B5EF4-FFF2-40B4-BE49-F238E27FC236}">
                <a16:creationId xmlns:a16="http://schemas.microsoft.com/office/drawing/2014/main" id="{A3AC7D5D-47D7-4286-BE7B-2A2795D7A0FF}"/>
              </a:ext>
            </a:extLst>
          </p:cNvPr>
          <p:cNvSpPr>
            <a:spLocks noGrp="1"/>
          </p:cNvSpPr>
          <p:nvPr/>
        </p:nvSpPr>
        <p:spPr>
          <a:xfrm>
            <a:off x="257175" y="4191000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 estudio</a:t>
            </a:r>
          </a:p>
        </p:txBody>
      </p:sp>
      <p:sp>
        <p:nvSpPr>
          <p:cNvPr id="13" name="text-202">
            <a:extLst>
              <a:ext uri="{FF2B5EF4-FFF2-40B4-BE49-F238E27FC236}">
                <a16:creationId xmlns:a16="http://schemas.microsoft.com/office/drawing/2014/main" id="{F97F4A1E-62CD-4528-9597-15B5AD25F05C}"/>
              </a:ext>
            </a:extLst>
          </p:cNvPr>
          <p:cNvSpPr>
            <a:spLocks noGrp="1"/>
          </p:cNvSpPr>
          <p:nvPr/>
        </p:nvSpPr>
        <p:spPr>
          <a:xfrm>
            <a:off x="257175" y="4695825"/>
            <a:ext cx="1133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Proyecto</a:t>
            </a:r>
          </a:p>
        </p:txBody>
      </p:sp>
      <p:sp>
        <p:nvSpPr>
          <p:cNvPr id="14" name="text-203">
            <a:extLst>
              <a:ext uri="{FF2B5EF4-FFF2-40B4-BE49-F238E27FC236}">
                <a16:creationId xmlns:a16="http://schemas.microsoft.com/office/drawing/2014/main" id="{5F77343A-D5BC-4704-B0FE-ED5D9E307AC4}"/>
              </a:ext>
            </a:extLst>
          </p:cNvPr>
          <p:cNvSpPr>
            <a:spLocks noGrp="1"/>
          </p:cNvSpPr>
          <p:nvPr/>
        </p:nvSpPr>
        <p:spPr>
          <a:xfrm>
            <a:off x="238125" y="6086475"/>
            <a:ext cx="1143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BBD1E8"/>
                </a:solidFill>
                <a:latin typeface="Aptos"/>
                <a:ea typeface="Aptos"/>
                <a:cs typeface="Aptos"/>
              </a:rPr>
              <a:t>Caso académico</a:t>
            </a:r>
          </a:p>
          <a:p>
            <a:pPr algn="l">
              <a:defRPr sz="825" b="0">
                <a:solidFill>
                  <a:srgbClr val="BBD1E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BBD1E8"/>
                </a:solidFill>
                <a:latin typeface="Aptos"/>
                <a:ea typeface="Aptos"/>
                <a:cs typeface="Aptos"/>
              </a:rPr>
              <a:t>Vista simulada</a:t>
            </a:r>
          </a:p>
        </p:txBody>
      </p:sp>
      <p:sp>
        <p:nvSpPr>
          <p:cNvPr id="15" name="text-204">
            <a:extLst>
              <a:ext uri="{FF2B5EF4-FFF2-40B4-BE49-F238E27FC236}">
                <a16:creationId xmlns:a16="http://schemas.microsoft.com/office/drawing/2014/main" id="{CFCB55FF-3D8E-44F5-8DFA-8E0CB831DF62}"/>
              </a:ext>
            </a:extLst>
          </p:cNvPr>
          <p:cNvSpPr>
            <a:spLocks noGrp="1"/>
          </p:cNvSpPr>
          <p:nvPr/>
        </p:nvSpPr>
        <p:spPr>
          <a:xfrm>
            <a:off x="1781175" y="323850"/>
            <a:ext cx="1000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400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Preparar mi estudio de inversión</a:t>
            </a:r>
          </a:p>
        </p:txBody>
      </p:sp>
      <p:sp>
        <p:nvSpPr>
          <p:cNvPr id="16" name="text-205">
            <a:extLst>
              <a:ext uri="{FF2B5EF4-FFF2-40B4-BE49-F238E27FC236}">
                <a16:creationId xmlns:a16="http://schemas.microsoft.com/office/drawing/2014/main" id="{C07145AE-7034-45CE-9997-8A2053BF7B39}"/>
              </a:ext>
            </a:extLst>
          </p:cNvPr>
          <p:cNvSpPr>
            <a:spLocks noGrp="1"/>
          </p:cNvSpPr>
          <p:nvPr/>
        </p:nvSpPr>
        <p:spPr>
          <a:xfrm>
            <a:off x="1781175" y="771525"/>
            <a:ext cx="1000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1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Ejemplo de uso: justificar una selección preliminar con evidencia y una limitación.</a:t>
            </a:r>
          </a:p>
        </p:txBody>
      </p:sp>
      <p:sp>
        <p:nvSpPr>
          <p:cNvPr id="17" name="text-206">
            <a:extLst>
              <a:ext uri="{FF2B5EF4-FFF2-40B4-BE49-F238E27FC236}">
                <a16:creationId xmlns:a16="http://schemas.microsoft.com/office/drawing/2014/main" id="{5BB33409-C8B0-4616-9ED3-21B5048215F9}"/>
              </a:ext>
            </a:extLst>
          </p:cNvPr>
          <p:cNvSpPr>
            <a:spLocks noGrp="1"/>
          </p:cNvSpPr>
          <p:nvPr/>
        </p:nvSpPr>
        <p:spPr>
          <a:xfrm>
            <a:off x="1790700" y="6572250"/>
            <a:ext cx="933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IGAC · consulta 25 oct. 2026 · valores nominales en COP · registros, no inmuebles únicos</a:t>
            </a:r>
          </a:p>
        </p:txBody>
      </p:sp>
      <p:sp>
        <p:nvSpPr>
          <p:cNvPr id="18" name="text-207">
            <a:extLst>
              <a:ext uri="{FF2B5EF4-FFF2-40B4-BE49-F238E27FC236}">
                <a16:creationId xmlns:a16="http://schemas.microsoft.com/office/drawing/2014/main" id="{0C597AB2-B1AB-4804-8429-2385B2E137EA}"/>
              </a:ext>
            </a:extLst>
          </p:cNvPr>
          <p:cNvSpPr>
            <a:spLocks noGrp="1"/>
          </p:cNvSpPr>
          <p:nvPr/>
        </p:nvSpPr>
        <p:spPr>
          <a:xfrm>
            <a:off x="11172825" y="6572250"/>
            <a:ext cx="66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825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07 / 08</a:t>
            </a:r>
          </a:p>
        </p:txBody>
      </p:sp>
      <p:sp>
        <p:nvSpPr>
          <p:cNvPr id="19" name="panel-208">
            <a:extLst>
              <a:ext uri="{FF2B5EF4-FFF2-40B4-BE49-F238E27FC236}">
                <a16:creationId xmlns:a16="http://schemas.microsoft.com/office/drawing/2014/main" id="{C91CF510-04D1-4087-A29D-41DDF7F6AAE1}"/>
              </a:ext>
            </a:extLst>
          </p:cNvPr>
          <p:cNvSpPr>
            <a:spLocks noGrp="1"/>
          </p:cNvSpPr>
          <p:nvPr/>
        </p:nvSpPr>
        <p:spPr>
          <a:xfrm>
            <a:off x="1781175" y="1152525"/>
            <a:ext cx="10058400" cy="828675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-209">
            <a:extLst>
              <a:ext uri="{FF2B5EF4-FFF2-40B4-BE49-F238E27FC236}">
                <a16:creationId xmlns:a16="http://schemas.microsoft.com/office/drawing/2014/main" id="{5B62441F-7E37-4BE7-9DF7-88F00FD31F8E}"/>
              </a:ext>
            </a:extLst>
          </p:cNvPr>
          <p:cNvSpPr>
            <a:spLocks noGrp="1"/>
          </p:cNvSpPr>
          <p:nvPr/>
        </p:nvSpPr>
        <p:spPr>
          <a:xfrm>
            <a:off x="1943100" y="1295400"/>
            <a:ext cx="973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1. Elegir qué municipio estudiar</a:t>
            </a:r>
          </a:p>
        </p:txBody>
      </p:sp>
      <p:sp>
        <p:nvSpPr>
          <p:cNvPr id="21" name="panel-210">
            <a:extLst>
              <a:ext uri="{FF2B5EF4-FFF2-40B4-BE49-F238E27FC236}">
                <a16:creationId xmlns:a16="http://schemas.microsoft.com/office/drawing/2014/main" id="{0FA701C8-ECE0-4F07-A58E-4E89B5835188}"/>
              </a:ext>
            </a:extLst>
          </p:cNvPr>
          <p:cNvSpPr>
            <a:spLocks noGrp="1"/>
          </p:cNvSpPr>
          <p:nvPr/>
        </p:nvSpPr>
        <p:spPr>
          <a:xfrm>
            <a:off x="5057775" y="1390650"/>
            <a:ext cx="1962150" cy="352425"/>
          </a:xfrm>
          <a:prstGeom prst="roundRect">
            <a:avLst>
              <a:gd name="adj" fmla="val 16216"/>
            </a:avLst>
          </a:prstGeom>
          <a:solidFill>
            <a:srgbClr val="2E86D1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-211">
            <a:extLst>
              <a:ext uri="{FF2B5EF4-FFF2-40B4-BE49-F238E27FC236}">
                <a16:creationId xmlns:a16="http://schemas.microsoft.com/office/drawing/2014/main" id="{72F20812-092B-491A-8743-8D2A292A3BB7}"/>
              </a:ext>
            </a:extLst>
          </p:cNvPr>
          <p:cNvSpPr>
            <a:spLocks noGrp="1"/>
          </p:cNvSpPr>
          <p:nvPr/>
        </p:nvSpPr>
        <p:spPr>
          <a:xfrm>
            <a:off x="5172075" y="148590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 Armenia</a:t>
            </a:r>
          </a:p>
        </p:txBody>
      </p:sp>
      <p:sp>
        <p:nvSpPr>
          <p:cNvPr id="23" name="panel-212">
            <a:extLst>
              <a:ext uri="{FF2B5EF4-FFF2-40B4-BE49-F238E27FC236}">
                <a16:creationId xmlns:a16="http://schemas.microsoft.com/office/drawing/2014/main" id="{E2631BFE-ABA2-4725-8C26-249FF49CFFD3}"/>
              </a:ext>
            </a:extLst>
          </p:cNvPr>
          <p:cNvSpPr>
            <a:spLocks noGrp="1"/>
          </p:cNvSpPr>
          <p:nvPr/>
        </p:nvSpPr>
        <p:spPr>
          <a:xfrm>
            <a:off x="7219950" y="1390650"/>
            <a:ext cx="1962150" cy="352425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-213">
            <a:extLst>
              <a:ext uri="{FF2B5EF4-FFF2-40B4-BE49-F238E27FC236}">
                <a16:creationId xmlns:a16="http://schemas.microsoft.com/office/drawing/2014/main" id="{7D0E22AA-32EF-4983-9F50-D2E615639BB1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Manizales</a:t>
            </a:r>
          </a:p>
        </p:txBody>
      </p:sp>
      <p:sp>
        <p:nvSpPr>
          <p:cNvPr id="25" name="panel-214">
            <a:extLst>
              <a:ext uri="{FF2B5EF4-FFF2-40B4-BE49-F238E27FC236}">
                <a16:creationId xmlns:a16="http://schemas.microsoft.com/office/drawing/2014/main" id="{988F3D9B-D048-432E-8BFB-1B9049EDCBE4}"/>
              </a:ext>
            </a:extLst>
          </p:cNvPr>
          <p:cNvSpPr>
            <a:spLocks noGrp="1"/>
          </p:cNvSpPr>
          <p:nvPr/>
        </p:nvSpPr>
        <p:spPr>
          <a:xfrm>
            <a:off x="9382125" y="1390650"/>
            <a:ext cx="1962150" cy="352425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-215">
            <a:extLst>
              <a:ext uri="{FF2B5EF4-FFF2-40B4-BE49-F238E27FC236}">
                <a16:creationId xmlns:a16="http://schemas.microsoft.com/office/drawing/2014/main" id="{882F9E9D-417C-45EE-92CB-17BE012E2945}"/>
              </a:ext>
            </a:extLst>
          </p:cNvPr>
          <p:cNvSpPr>
            <a:spLocks noGrp="1"/>
          </p:cNvSpPr>
          <p:nvPr/>
        </p:nvSpPr>
        <p:spPr>
          <a:xfrm>
            <a:off x="9496425" y="1485900"/>
            <a:ext cx="1714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12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Pereira</a:t>
            </a:r>
          </a:p>
        </p:txBody>
      </p:sp>
      <p:sp>
        <p:nvSpPr>
          <p:cNvPr id="27" name="panel-216">
            <a:extLst>
              <a:ext uri="{FF2B5EF4-FFF2-40B4-BE49-F238E27FC236}">
                <a16:creationId xmlns:a16="http://schemas.microsoft.com/office/drawing/2014/main" id="{434BE169-F758-4268-A8A3-747645E2A0CC}"/>
              </a:ext>
            </a:extLst>
          </p:cNvPr>
          <p:cNvSpPr>
            <a:spLocks noGrp="1"/>
          </p:cNvSpPr>
          <p:nvPr/>
        </p:nvSpPr>
        <p:spPr>
          <a:xfrm>
            <a:off x="1781175" y="2181225"/>
            <a:ext cx="4838700" cy="1933575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-217">
            <a:extLst>
              <a:ext uri="{FF2B5EF4-FFF2-40B4-BE49-F238E27FC236}">
                <a16:creationId xmlns:a16="http://schemas.microsoft.com/office/drawing/2014/main" id="{FE0CBC4D-06EE-43AE-874C-2C2C5E43E16D}"/>
              </a:ext>
            </a:extLst>
          </p:cNvPr>
          <p:cNvSpPr>
            <a:spLocks noGrp="1"/>
          </p:cNvSpPr>
          <p:nvPr/>
        </p:nvSpPr>
        <p:spPr>
          <a:xfrm>
            <a:off x="1943100" y="2324100"/>
            <a:ext cx="451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2. Indicadores que sustentan mi elección</a:t>
            </a:r>
          </a:p>
        </p:txBody>
      </p:sp>
      <p:sp>
        <p:nvSpPr>
          <p:cNvPr id="29" name="text-218">
            <a:extLst>
              <a:ext uri="{FF2B5EF4-FFF2-40B4-BE49-F238E27FC236}">
                <a16:creationId xmlns:a16="http://schemas.microsoft.com/office/drawing/2014/main" id="{188171DE-72C9-47C4-9EC3-CFF00D2D021D}"/>
              </a:ext>
            </a:extLst>
          </p:cNvPr>
          <p:cNvSpPr>
            <a:spLocks noGrp="1"/>
          </p:cNvSpPr>
          <p:nvPr/>
        </p:nvSpPr>
        <p:spPr>
          <a:xfrm>
            <a:off x="1990725" y="2647950"/>
            <a:ext cx="440055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✓  9.672 registros en 2023.</a:t>
            </a:r>
          </a:p>
          <a:p>
            <a: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✓  43,46 % de la selección de los tres municipios.</a:t>
            </a:r>
          </a:p>
          <a:p>
            <a: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✓  Variación anual de −4,04 %.</a:t>
            </a:r>
          </a:p>
          <a:p>
            <a:pPr algn="l">
              <a:defRPr sz="1200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✓  Mediana registrada de $108 millones.</a:t>
            </a:r>
          </a:p>
        </p:txBody>
      </p:sp>
      <p:sp>
        <p:nvSpPr>
          <p:cNvPr id="30" name="panel-219">
            <a:extLst>
              <a:ext uri="{FF2B5EF4-FFF2-40B4-BE49-F238E27FC236}">
                <a16:creationId xmlns:a16="http://schemas.microsoft.com/office/drawing/2014/main" id="{E3CF8AAA-84D9-4214-A282-E83BFF9D0225}"/>
              </a:ext>
            </a:extLst>
          </p:cNvPr>
          <p:cNvSpPr>
            <a:spLocks noGrp="1"/>
          </p:cNvSpPr>
          <p:nvPr/>
        </p:nvSpPr>
        <p:spPr>
          <a:xfrm>
            <a:off x="6848475" y="2181225"/>
            <a:ext cx="4991100" cy="1933575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-220">
            <a:extLst>
              <a:ext uri="{FF2B5EF4-FFF2-40B4-BE49-F238E27FC236}">
                <a16:creationId xmlns:a16="http://schemas.microsoft.com/office/drawing/2014/main" id="{F8E2ECBA-EA9E-48A1-88B7-BC5C6037EE1C}"/>
              </a:ext>
            </a:extLst>
          </p:cNvPr>
          <p:cNvSpPr>
            <a:spLocks noGrp="1"/>
          </p:cNvSpPr>
          <p:nvPr/>
        </p:nvSpPr>
        <p:spPr>
          <a:xfrm>
            <a:off x="7010400" y="2324100"/>
            <a:ext cx="4667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1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3B61"/>
                </a:solidFill>
                <a:latin typeface="Aptos"/>
                <a:ea typeface="Aptos"/>
                <a:cs typeface="Aptos"/>
              </a:rPr>
              <a:t>3. Reconocer una limitación</a:t>
            </a:r>
          </a:p>
        </p:txBody>
      </p:sp>
      <p:sp>
        <p:nvSpPr>
          <p:cNvPr id="32" name="text-221">
            <a:extLst>
              <a:ext uri="{FF2B5EF4-FFF2-40B4-BE49-F238E27FC236}">
                <a16:creationId xmlns:a16="http://schemas.microsoft.com/office/drawing/2014/main" id="{213A07C2-F408-4C2F-9ECF-04223A35D8B1}"/>
              </a:ext>
            </a:extLst>
          </p:cNvPr>
          <p:cNvSpPr>
            <a:spLocks noGrp="1"/>
          </p:cNvSpPr>
          <p:nvPr/>
        </p:nvSpPr>
        <p:spPr>
          <a:xfrm>
            <a:off x="7058025" y="2647950"/>
            <a:ext cx="4543425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✓  No conocemos el área ni el estado físico.</a:t>
            </a:r>
          </a:p>
          <a:p>
            <a:endParaRPr sz="1200" b="0">
              <a:solidFill>
                <a:srgbClr val="617D9C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Los montos no son precios por metro cuadrado y no describen inmuebles equivalentes.</a:t>
            </a:r>
          </a:p>
        </p:txBody>
      </p:sp>
      <p:sp>
        <p:nvSpPr>
          <p:cNvPr id="33" name="panel-222">
            <a:extLst>
              <a:ext uri="{FF2B5EF4-FFF2-40B4-BE49-F238E27FC236}">
                <a16:creationId xmlns:a16="http://schemas.microsoft.com/office/drawing/2014/main" id="{CE639C4F-B23E-4C59-B1E1-4BB8741C5526}"/>
              </a:ext>
            </a:extLst>
          </p:cNvPr>
          <p:cNvSpPr>
            <a:spLocks noGrp="1"/>
          </p:cNvSpPr>
          <p:nvPr/>
        </p:nvSpPr>
        <p:spPr>
          <a:xfrm>
            <a:off x="1781175" y="4314825"/>
            <a:ext cx="10058400" cy="1419225"/>
          </a:xfrm>
          <a:prstGeom prst="roundRect">
            <a:avLst>
              <a:gd name="adj" fmla="val 8054"/>
            </a:avLst>
          </a:prstGeom>
          <a:solidFill>
            <a:srgbClr val="ECEAFA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-223">
            <a:extLst>
              <a:ext uri="{FF2B5EF4-FFF2-40B4-BE49-F238E27FC236}">
                <a16:creationId xmlns:a16="http://schemas.microsoft.com/office/drawing/2014/main" id="{E45F407F-C66E-4D22-BD00-B5C9AA93BE9A}"/>
              </a:ext>
            </a:extLst>
          </p:cNvPr>
          <p:cNvSpPr>
            <a:spLocks noGrp="1"/>
          </p:cNvSpPr>
          <p:nvPr/>
        </p:nvSpPr>
        <p:spPr>
          <a:xfrm>
            <a:off x="1971675" y="4467225"/>
            <a:ext cx="957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1">
                <a:solidFill>
                  <a:srgbClr val="6F63C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F63C7"/>
                </a:solidFill>
                <a:latin typeface="Aptos"/>
                <a:ea typeface="Aptos"/>
                <a:cs typeface="Aptos"/>
              </a:rPr>
              <a:t>Ejemplo de justificación</a:t>
            </a:r>
          </a:p>
        </p:txBody>
      </p:sp>
      <p:sp>
        <p:nvSpPr>
          <p:cNvPr id="35" name="text-224">
            <a:extLst>
              <a:ext uri="{FF2B5EF4-FFF2-40B4-BE49-F238E27FC236}">
                <a16:creationId xmlns:a16="http://schemas.microsoft.com/office/drawing/2014/main" id="{EDF14BE5-801B-42D2-AA47-A82C7174AAC9}"/>
              </a:ext>
            </a:extLst>
          </p:cNvPr>
          <p:cNvSpPr>
            <a:spLocks noGrp="1"/>
          </p:cNvSpPr>
          <p:nvPr/>
        </p:nvSpPr>
        <p:spPr>
          <a:xfrm>
            <a:off x="1971675" y="4829175"/>
            <a:ext cx="95726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275" b="0">
                <a:solidFill>
                  <a:srgbClr val="173B6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3B61"/>
                </a:solidFill>
                <a:latin typeface="Aptos"/>
                <a:ea typeface="Aptos"/>
                <a:cs typeface="Aptos"/>
              </a:rPr>
              <a:t>Profundizaría el estudio de Armenia por su mayor volumen registrado en 2023 y su mediana de $108 millones. Revisaría la disminución anual del 4,04 % y contrastaría la información con área, ubicación y estado de los inmuebles antes de evaluar una oportunidad.</a:t>
            </a:r>
          </a:p>
        </p:txBody>
      </p:sp>
      <p:sp>
        <p:nvSpPr>
          <p:cNvPr id="36" name="text-225">
            <a:extLst>
              <a:ext uri="{FF2B5EF4-FFF2-40B4-BE49-F238E27FC236}">
                <a16:creationId xmlns:a16="http://schemas.microsoft.com/office/drawing/2014/main" id="{214A09C7-F327-48C4-9734-75C137995C56}"/>
              </a:ext>
            </a:extLst>
          </p:cNvPr>
          <p:cNvSpPr>
            <a:spLocks noGrp="1"/>
          </p:cNvSpPr>
          <p:nvPr/>
        </p:nvSpPr>
        <p:spPr>
          <a:xfrm>
            <a:off x="1971675" y="5953125"/>
            <a:ext cx="9591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50" b="0">
                <a:solidFill>
                  <a:srgbClr val="617D9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17D9C"/>
                </a:solidFill>
                <a:latin typeface="Aptos"/>
                <a:ea typeface="Aptos"/>
                <a:cs typeface="Aptos"/>
              </a:rPr>
              <a:t>Información adicional por conseguir: oferta actual, arriendos, costos, área y ubicación específica.</a:t>
            </a:r>
          </a:p>
        </p:txBody>
      </p:sp>
      <p:sp>
        <p:nvSpPr>
          <p:cNvPr id="37" name="panel-226">
            <a:extLst>
              <a:ext uri="{FF2B5EF4-FFF2-40B4-BE49-F238E27FC236}">
                <a16:creationId xmlns:a16="http://schemas.microsoft.com/office/drawing/2014/main" id="{861C88B4-28AF-4C31-9DFD-396D1555182F}"/>
              </a:ext>
            </a:extLst>
          </p:cNvPr>
          <p:cNvSpPr>
            <a:spLocks noGrp="1"/>
          </p:cNvSpPr>
          <p:nvPr/>
        </p:nvSpPr>
        <p:spPr>
          <a:xfrm>
            <a:off x="7896225" y="6124575"/>
            <a:ext cx="3781425" cy="314325"/>
          </a:xfrm>
          <a:prstGeom prst="roundRect">
            <a:avLst>
              <a:gd name="adj" fmla="val 18182"/>
            </a:avLst>
          </a:prstGeom>
          <a:solidFill>
            <a:srgbClr val="6F63C7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-227">
            <a:extLst>
              <a:ext uri="{FF2B5EF4-FFF2-40B4-BE49-F238E27FC236}">
                <a16:creationId xmlns:a16="http://schemas.microsoft.com/office/drawing/2014/main" id="{DDE39092-06F5-41BF-8056-3D4E45EC74AB}"/>
              </a:ext>
            </a:extLst>
          </p:cNvPr>
          <p:cNvSpPr>
            <a:spLocks noGrp="1"/>
          </p:cNvSpPr>
          <p:nvPr/>
        </p:nvSpPr>
        <p:spPr>
          <a:xfrm>
            <a:off x="7972425" y="6200775"/>
            <a:ext cx="36290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RESUMEN DESCARGABLE · PROPUESTO</a:t>
            </a:r>
          </a:p>
        </p:txBody>
      </p:sp>
    </p:spTree>
    <p:extLst>
      <p:ext uri="{BB962C8B-B14F-4D97-AF65-F5344CB8AC3E}">
        <p14:creationId xmlns:p14="http://schemas.microsoft.com/office/powerpoint/2010/main" val="328031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1852</Words>
  <Application>Microsoft Office PowerPoint</Application>
  <DocSecurity>0</DocSecurity>
  <PresentationFormat>Widescreen</PresentationFormat>
  <Paragraphs>266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Jecika Nataly León Linares</cp:lastModifiedBy>
  <cp:revision>1</cp:revision>
  <dcterms:created xsi:type="dcterms:W3CDTF">2026-10-25T18:56:12Z</dcterms:created>
  <dcterms:modified xsi:type="dcterms:W3CDTF">2026-10-25T19:04:40Z</dcterms:modified>
</cp:coreProperties>
</file>